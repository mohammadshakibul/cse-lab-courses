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14"/>
  </p:notesMasterIdLst>
  <p:sldIdLst>
    <p:sldId id="256" r:id="rId6"/>
    <p:sldId id="257" r:id="rId7"/>
    <p:sldId id="258" r:id="rId8"/>
    <p:sldId id="259" r:id="rId9"/>
    <p:sldId id="260" r:id="rId10"/>
    <p:sldId id="261" r:id="rId11"/>
    <p:sldId id="262" r:id="rId12"/>
    <p:sldId id="263" r:id="rId13"/>
  </p:sldIdLst>
  <p:sldSz cx="18288000" cy="10287000"/>
  <p:notesSz cx="6858000" cy="9144000"/>
  <p:embeddedFontLst>
    <p:embeddedFont>
      <p:font typeface="Barlow Bold" charset="1" panose="00000800000000000000"/>
      <p:regular r:id="rId17"/>
    </p:embeddedFont>
    <p:embeddedFont>
      <p:font typeface="Didact Gothic" charset="1" panose="00000500000000000000"/>
      <p:regular r:id="rId18"/>
    </p:embeddedFont>
    <p:embeddedFont>
      <p:font typeface="Cardo Bold" charset="1" panose="02020804080000020003"/>
      <p:regular r:id="rId19"/>
    </p:embeddedFont>
    <p:embeddedFont>
      <p:font typeface="Cardo" charset="1" panose="02020600000000000000"/>
      <p:regular r:id="rId20"/>
    </p:embeddedFont>
    <p:embeddedFont>
      <p:font typeface="Canva Sans" charset="1" panose="020B0503030501040103"/>
      <p:regular r:id="rId21"/>
    </p:embeddedFont>
    <p:embeddedFont>
      <p:font typeface="Montserrat" charset="1" panose="00000500000000000000"/>
      <p:regular r:id="rId22"/>
    </p:embeddedFont>
    <p:embeddedFont>
      <p:font typeface="Barlow" charset="1" panose="00000500000000000000"/>
      <p:regular r:id="rId2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notesMasters/notesMaster1.xml" Type="http://schemas.openxmlformats.org/officeDocument/2006/relationships/notesMaster"/><Relationship Id="rId15" Target="theme/theme2.xml" Type="http://schemas.openxmlformats.org/officeDocument/2006/relationships/theme"/><Relationship Id="rId16" Target="notesSlides/notesSlide1.xml" Type="http://schemas.openxmlformats.org/officeDocument/2006/relationships/notesSlide"/><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23" Target="notesSlides/notesSlide2.xml" Type="http://schemas.openxmlformats.org/officeDocument/2006/relationships/notesSlide"/><Relationship Id="rId24" Target="notesSlides/notesSlide3.xml" Type="http://schemas.openxmlformats.org/officeDocument/2006/relationships/notesSlide"/><Relationship Id="rId25" Target="notesSlides/notesSlide4.xml" Type="http://schemas.openxmlformats.org/officeDocument/2006/relationships/notesSlide"/><Relationship Id="rId26" Target="notesSlides/notesSlide5.xml" Type="http://schemas.openxmlformats.org/officeDocument/2006/relationships/notesSlide"/><Relationship Id="rId27" Target="fonts/font27.fntdata" Type="http://schemas.openxmlformats.org/officeDocument/2006/relationships/font"/><Relationship Id="rId28" Target="notesSlides/notesSlide6.xml" Type="http://schemas.openxmlformats.org/officeDocument/2006/relationships/notesSlide"/><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4</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5</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8</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png" Type="http://schemas.openxmlformats.org/officeDocument/2006/relationships/image"/><Relationship Id="rId4" Target="../media/image2.png" Type="http://schemas.openxmlformats.org/officeDocument/2006/relationships/image"/><Relationship Id="rId5" Target="../media/image3.jpeg" Type="http://schemas.openxmlformats.org/officeDocument/2006/relationships/image"/><Relationship Id="rId6" Target="../media/image4.jpeg" Type="http://schemas.openxmlformats.org/officeDocument/2006/relationships/image"/><Relationship Id="rId7" Target="../media/image5.jpeg" Type="http://schemas.openxmlformats.org/officeDocument/2006/relationships/image"/><Relationship Id="rId8" Target="../media/image6.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1.png" Type="http://schemas.openxmlformats.org/officeDocument/2006/relationships/image"/><Relationship Id="rId4" Target="../media/image8.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1.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1.png" Type="http://schemas.openxmlformats.org/officeDocument/2006/relationships/image"/><Relationship Id="rId4" Target="../media/image9.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1.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1.png" Type="http://schemas.openxmlformats.org/officeDocument/2006/relationships/image"/><Relationship Id="rId4" Target="../media/image11.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descr="preencoded.png"/>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0" r="0" b="0"/>
            </a:stretch>
          </a:blipFill>
        </p:spPr>
      </p:sp>
      <p:grpSp>
        <p:nvGrpSpPr>
          <p:cNvPr name="Group 3" id="3"/>
          <p:cNvGrpSpPr/>
          <p:nvPr/>
        </p:nvGrpSpPr>
        <p:grpSpPr>
          <a:xfrm rot="0">
            <a:off x="9525" y="0"/>
            <a:ext cx="18288000" cy="10287000"/>
            <a:chOff x="0" y="0"/>
            <a:chExt cx="24384000" cy="13716000"/>
          </a:xfrm>
        </p:grpSpPr>
        <p:sp>
          <p:nvSpPr>
            <p:cNvPr name="Freeform 4" id="4"/>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FFF"/>
            </a:solidFill>
          </p:spPr>
        </p:sp>
      </p:grpSp>
      <p:sp>
        <p:nvSpPr>
          <p:cNvPr name="Freeform 5" id="5"/>
          <p:cNvSpPr/>
          <p:nvPr/>
        </p:nvSpPr>
        <p:spPr>
          <a:xfrm flipH="false" flipV="false" rot="0">
            <a:off x="139046" y="-21116"/>
            <a:ext cx="3118506" cy="3118506"/>
          </a:xfrm>
          <a:custGeom>
            <a:avLst/>
            <a:gdLst/>
            <a:ahLst/>
            <a:cxnLst/>
            <a:rect r="r" b="b" t="t" l="l"/>
            <a:pathLst>
              <a:path h="3118506" w="3118506">
                <a:moveTo>
                  <a:pt x="0" y="0"/>
                </a:moveTo>
                <a:lnTo>
                  <a:pt x="3118505" y="0"/>
                </a:lnTo>
                <a:lnTo>
                  <a:pt x="3118505" y="3118505"/>
                </a:lnTo>
                <a:lnTo>
                  <a:pt x="0" y="3118505"/>
                </a:lnTo>
                <a:lnTo>
                  <a:pt x="0" y="0"/>
                </a:lnTo>
                <a:close/>
              </a:path>
            </a:pathLst>
          </a:custGeom>
          <a:blipFill>
            <a:blip r:embed="rId4"/>
            <a:stretch>
              <a:fillRect l="0" t="0" r="0" b="0"/>
            </a:stretch>
          </a:blipFill>
        </p:spPr>
      </p:sp>
      <p:grpSp>
        <p:nvGrpSpPr>
          <p:cNvPr name="Group 6" id="6"/>
          <p:cNvGrpSpPr/>
          <p:nvPr/>
        </p:nvGrpSpPr>
        <p:grpSpPr>
          <a:xfrm rot="0">
            <a:off x="952501" y="3118506"/>
            <a:ext cx="1491594" cy="1491594"/>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5"/>
              <a:stretch>
                <a:fillRect l="0" t="-13775" r="0" b="-13775"/>
              </a:stretch>
            </a:blipFill>
          </p:spPr>
        </p:sp>
      </p:grpSp>
      <p:grpSp>
        <p:nvGrpSpPr>
          <p:cNvPr name="Group 8" id="8"/>
          <p:cNvGrpSpPr/>
          <p:nvPr/>
        </p:nvGrpSpPr>
        <p:grpSpPr>
          <a:xfrm rot="0">
            <a:off x="876303" y="4880094"/>
            <a:ext cx="1567793" cy="1567793"/>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6"/>
              <a:stretch>
                <a:fillRect l="0" t="-8139" r="0" b="-8139"/>
              </a:stretch>
            </a:blipFill>
          </p:spPr>
        </p:sp>
      </p:grpSp>
      <p:grpSp>
        <p:nvGrpSpPr>
          <p:cNvPr name="Group 10" id="10"/>
          <p:cNvGrpSpPr/>
          <p:nvPr/>
        </p:nvGrpSpPr>
        <p:grpSpPr>
          <a:xfrm rot="0">
            <a:off x="816631" y="8378344"/>
            <a:ext cx="1627464" cy="1627464"/>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7"/>
              <a:stretch>
                <a:fillRect l="0" t="-3294" r="0" b="-3294"/>
              </a:stretch>
            </a:blipFill>
          </p:spPr>
        </p:sp>
      </p:grpSp>
      <p:sp>
        <p:nvSpPr>
          <p:cNvPr name="TextBox 12" id="12"/>
          <p:cNvSpPr txBox="true"/>
          <p:nvPr/>
        </p:nvSpPr>
        <p:spPr>
          <a:xfrm rot="0">
            <a:off x="3835736" y="1500036"/>
            <a:ext cx="12727632" cy="882650"/>
          </a:xfrm>
          <a:prstGeom prst="rect">
            <a:avLst/>
          </a:prstGeom>
        </p:spPr>
        <p:txBody>
          <a:bodyPr anchor="t" rtlCol="false" tIns="0" lIns="0" bIns="0" rIns="0">
            <a:spAutoFit/>
          </a:bodyPr>
          <a:lstStyle/>
          <a:p>
            <a:pPr algn="l">
              <a:lnSpc>
                <a:spcPts val="7000"/>
              </a:lnSpc>
            </a:pPr>
            <a:r>
              <a:rPr lang="en-US" sz="5562" b="true">
                <a:solidFill>
                  <a:srgbClr val="2E3C4E"/>
                </a:solidFill>
                <a:latin typeface="Barlow Bold"/>
                <a:ea typeface="Barlow Bold"/>
                <a:cs typeface="Barlow Bold"/>
                <a:sym typeface="Barlow Bold"/>
              </a:rPr>
              <a:t>Project Title:Job finding Website</a:t>
            </a:r>
          </a:p>
        </p:txBody>
      </p:sp>
      <p:sp>
        <p:nvSpPr>
          <p:cNvPr name="TextBox 13" id="13"/>
          <p:cNvSpPr txBox="true"/>
          <p:nvPr/>
        </p:nvSpPr>
        <p:spPr>
          <a:xfrm rot="0">
            <a:off x="2738275" y="3334891"/>
            <a:ext cx="4453304" cy="1304290"/>
          </a:xfrm>
          <a:prstGeom prst="rect">
            <a:avLst/>
          </a:prstGeom>
        </p:spPr>
        <p:txBody>
          <a:bodyPr anchor="t" rtlCol="false" tIns="0" lIns="0" bIns="0" rIns="0">
            <a:spAutoFit/>
          </a:bodyPr>
          <a:lstStyle/>
          <a:p>
            <a:pPr algn="l">
              <a:lnSpc>
                <a:spcPts val="2599"/>
              </a:lnSpc>
            </a:pPr>
            <a:r>
              <a:rPr lang="en-US" sz="2599" spc="207">
                <a:solidFill>
                  <a:srgbClr val="000000"/>
                </a:solidFill>
                <a:latin typeface="Didact Gothic"/>
                <a:ea typeface="Didact Gothic"/>
                <a:cs typeface="Didact Gothic"/>
                <a:sym typeface="Didact Gothic"/>
              </a:rPr>
              <a:t>Md. Rayhan Ahmed Shis</a:t>
            </a:r>
          </a:p>
          <a:p>
            <a:pPr algn="l">
              <a:lnSpc>
                <a:spcPts val="2599"/>
              </a:lnSpc>
            </a:pPr>
            <a:r>
              <a:rPr lang="en-US" sz="2599" spc="207">
                <a:solidFill>
                  <a:srgbClr val="000000"/>
                </a:solidFill>
                <a:latin typeface="Didact Gothic"/>
                <a:ea typeface="Didact Gothic"/>
                <a:cs typeface="Didact Gothic"/>
                <a:sym typeface="Didact Gothic"/>
              </a:rPr>
              <a:t>2125051067</a:t>
            </a:r>
          </a:p>
          <a:p>
            <a:pPr algn="l">
              <a:lnSpc>
                <a:spcPts val="2599"/>
              </a:lnSpc>
            </a:pPr>
            <a:r>
              <a:rPr lang="en-US" sz="2599" spc="207">
                <a:solidFill>
                  <a:srgbClr val="000000"/>
                </a:solidFill>
                <a:latin typeface="Didact Gothic"/>
                <a:ea typeface="Didact Gothic"/>
                <a:cs typeface="Didact Gothic"/>
                <a:sym typeface="Didact Gothic"/>
              </a:rPr>
              <a:t>Batch- 50</a:t>
            </a:r>
          </a:p>
          <a:p>
            <a:pPr algn="l">
              <a:lnSpc>
                <a:spcPts val="2599"/>
              </a:lnSpc>
            </a:pPr>
            <a:r>
              <a:rPr lang="en-US" sz="2599" spc="207">
                <a:solidFill>
                  <a:srgbClr val="000000"/>
                </a:solidFill>
                <a:latin typeface="Didact Gothic"/>
                <a:ea typeface="Didact Gothic"/>
                <a:cs typeface="Didact Gothic"/>
                <a:sym typeface="Didact Gothic"/>
              </a:rPr>
              <a:t>Section- 7C1</a:t>
            </a:r>
          </a:p>
        </p:txBody>
      </p:sp>
      <p:sp>
        <p:nvSpPr>
          <p:cNvPr name="TextBox 14" id="14"/>
          <p:cNvSpPr txBox="true"/>
          <p:nvPr/>
        </p:nvSpPr>
        <p:spPr>
          <a:xfrm rot="0">
            <a:off x="2738275" y="5101088"/>
            <a:ext cx="5448514" cy="1346799"/>
          </a:xfrm>
          <a:prstGeom prst="rect">
            <a:avLst/>
          </a:prstGeom>
        </p:spPr>
        <p:txBody>
          <a:bodyPr anchor="t" rtlCol="false" tIns="0" lIns="0" bIns="0" rIns="0">
            <a:spAutoFit/>
          </a:bodyPr>
          <a:lstStyle/>
          <a:p>
            <a:pPr algn="l">
              <a:lnSpc>
                <a:spcPts val="2614"/>
              </a:lnSpc>
            </a:pPr>
            <a:r>
              <a:rPr lang="en-US" sz="2614" spc="104">
                <a:solidFill>
                  <a:srgbClr val="000000"/>
                </a:solidFill>
                <a:latin typeface="Didact Gothic"/>
                <a:ea typeface="Didact Gothic"/>
                <a:cs typeface="Didact Gothic"/>
                <a:sym typeface="Didact Gothic"/>
              </a:rPr>
              <a:t>Mohammad Shakibul Hasan</a:t>
            </a:r>
          </a:p>
          <a:p>
            <a:pPr algn="l">
              <a:lnSpc>
                <a:spcPts val="2614"/>
              </a:lnSpc>
            </a:pPr>
            <a:r>
              <a:rPr lang="en-US" sz="2614" spc="104">
                <a:solidFill>
                  <a:srgbClr val="000000"/>
                </a:solidFill>
                <a:latin typeface="Didact Gothic"/>
                <a:ea typeface="Didact Gothic"/>
                <a:cs typeface="Didact Gothic"/>
                <a:sym typeface="Didact Gothic"/>
              </a:rPr>
              <a:t>2215151115</a:t>
            </a:r>
          </a:p>
          <a:p>
            <a:pPr algn="l">
              <a:lnSpc>
                <a:spcPts val="2614"/>
              </a:lnSpc>
            </a:pPr>
            <a:r>
              <a:rPr lang="en-US" sz="2614" spc="104">
                <a:solidFill>
                  <a:srgbClr val="000000"/>
                </a:solidFill>
                <a:latin typeface="Didact Gothic"/>
                <a:ea typeface="Didact Gothic"/>
                <a:cs typeface="Didact Gothic"/>
                <a:sym typeface="Didact Gothic"/>
              </a:rPr>
              <a:t>Batch- 51</a:t>
            </a:r>
          </a:p>
          <a:p>
            <a:pPr algn="l">
              <a:lnSpc>
                <a:spcPts val="2614"/>
              </a:lnSpc>
            </a:pPr>
            <a:r>
              <a:rPr lang="en-US" sz="2614" spc="104">
                <a:solidFill>
                  <a:srgbClr val="000000"/>
                </a:solidFill>
                <a:latin typeface="Didact Gothic"/>
                <a:ea typeface="Didact Gothic"/>
                <a:cs typeface="Didact Gothic"/>
                <a:sym typeface="Didact Gothic"/>
              </a:rPr>
              <a:t>Section- 7C1</a:t>
            </a:r>
          </a:p>
        </p:txBody>
      </p:sp>
      <p:sp>
        <p:nvSpPr>
          <p:cNvPr name="TextBox 15" id="15"/>
          <p:cNvSpPr txBox="true"/>
          <p:nvPr/>
        </p:nvSpPr>
        <p:spPr>
          <a:xfrm rot="0">
            <a:off x="2738275" y="8707161"/>
            <a:ext cx="7461278" cy="1017456"/>
          </a:xfrm>
          <a:prstGeom prst="rect">
            <a:avLst/>
          </a:prstGeom>
        </p:spPr>
        <p:txBody>
          <a:bodyPr anchor="t" rtlCol="false" tIns="0" lIns="0" bIns="0" rIns="0">
            <a:spAutoFit/>
          </a:bodyPr>
          <a:lstStyle/>
          <a:p>
            <a:pPr algn="l">
              <a:lnSpc>
                <a:spcPts val="2620"/>
              </a:lnSpc>
            </a:pPr>
            <a:r>
              <a:rPr lang="en-US" sz="2620" spc="104">
                <a:solidFill>
                  <a:srgbClr val="000000"/>
                </a:solidFill>
                <a:latin typeface="Didact Gothic"/>
                <a:ea typeface="Didact Gothic"/>
                <a:cs typeface="Didact Gothic"/>
                <a:sym typeface="Didact Gothic"/>
              </a:rPr>
              <a:t>Most.Nasrin Akter (2215151142) </a:t>
            </a:r>
          </a:p>
          <a:p>
            <a:pPr algn="l">
              <a:lnSpc>
                <a:spcPts val="2620"/>
              </a:lnSpc>
            </a:pPr>
            <a:r>
              <a:rPr lang="en-US" sz="2620" spc="104">
                <a:solidFill>
                  <a:srgbClr val="000000"/>
                </a:solidFill>
                <a:latin typeface="Didact Gothic"/>
                <a:ea typeface="Didact Gothic"/>
                <a:cs typeface="Didact Gothic"/>
                <a:sym typeface="Didact Gothic"/>
              </a:rPr>
              <a:t>Batch- 51</a:t>
            </a:r>
          </a:p>
          <a:p>
            <a:pPr algn="l">
              <a:lnSpc>
                <a:spcPts val="2620"/>
              </a:lnSpc>
            </a:pPr>
            <a:r>
              <a:rPr lang="en-US" sz="2620" spc="104">
                <a:solidFill>
                  <a:srgbClr val="000000"/>
                </a:solidFill>
                <a:latin typeface="Didact Gothic"/>
                <a:ea typeface="Didact Gothic"/>
                <a:cs typeface="Didact Gothic"/>
                <a:sym typeface="Didact Gothic"/>
              </a:rPr>
              <a:t>Section- 7C2</a:t>
            </a:r>
          </a:p>
        </p:txBody>
      </p:sp>
      <p:sp>
        <p:nvSpPr>
          <p:cNvPr name="TextBox 16" id="16"/>
          <p:cNvSpPr txBox="true"/>
          <p:nvPr/>
        </p:nvSpPr>
        <p:spPr>
          <a:xfrm rot="0">
            <a:off x="2738275" y="6993289"/>
            <a:ext cx="6213824" cy="1025854"/>
          </a:xfrm>
          <a:prstGeom prst="rect">
            <a:avLst/>
          </a:prstGeom>
        </p:spPr>
        <p:txBody>
          <a:bodyPr anchor="t" rtlCol="false" tIns="0" lIns="0" bIns="0" rIns="0">
            <a:spAutoFit/>
          </a:bodyPr>
          <a:lstStyle/>
          <a:p>
            <a:pPr algn="l">
              <a:lnSpc>
                <a:spcPts val="2664"/>
              </a:lnSpc>
            </a:pPr>
            <a:r>
              <a:rPr lang="en-US" sz="2664" spc="106">
                <a:solidFill>
                  <a:srgbClr val="000000"/>
                </a:solidFill>
                <a:latin typeface="Didact Gothic"/>
                <a:ea typeface="Didact Gothic"/>
                <a:cs typeface="Didact Gothic"/>
                <a:sym typeface="Didact Gothic"/>
              </a:rPr>
              <a:t>Nusrat Jahan (2215151114)</a:t>
            </a:r>
          </a:p>
          <a:p>
            <a:pPr algn="l">
              <a:lnSpc>
                <a:spcPts val="2664"/>
              </a:lnSpc>
            </a:pPr>
            <a:r>
              <a:rPr lang="en-US" sz="2664" spc="106">
                <a:solidFill>
                  <a:srgbClr val="000000"/>
                </a:solidFill>
                <a:latin typeface="Didact Gothic"/>
                <a:ea typeface="Didact Gothic"/>
                <a:cs typeface="Didact Gothic"/>
                <a:sym typeface="Didact Gothic"/>
              </a:rPr>
              <a:t>Batch- 51 </a:t>
            </a:r>
          </a:p>
          <a:p>
            <a:pPr algn="l">
              <a:lnSpc>
                <a:spcPts val="2664"/>
              </a:lnSpc>
            </a:pPr>
            <a:r>
              <a:rPr lang="en-US" sz="2664" spc="106">
                <a:solidFill>
                  <a:srgbClr val="000000"/>
                </a:solidFill>
                <a:latin typeface="Didact Gothic"/>
                <a:ea typeface="Didact Gothic"/>
                <a:cs typeface="Didact Gothic"/>
                <a:sym typeface="Didact Gothic"/>
              </a:rPr>
              <a:t>Section- 7C1</a:t>
            </a:r>
          </a:p>
        </p:txBody>
      </p:sp>
      <p:grpSp>
        <p:nvGrpSpPr>
          <p:cNvPr name="Group 17" id="17"/>
          <p:cNvGrpSpPr/>
          <p:nvPr/>
        </p:nvGrpSpPr>
        <p:grpSpPr>
          <a:xfrm rot="0">
            <a:off x="822098" y="6638642"/>
            <a:ext cx="1621998" cy="1621998"/>
            <a:chOff x="0" y="0"/>
            <a:chExt cx="812800" cy="812800"/>
          </a:xfrm>
        </p:grpSpPr>
        <p:sp>
          <p:nvSpPr>
            <p:cNvPr name="Freeform 18" id="1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8"/>
              <a:stretch>
                <a:fillRect l="0" t="-2602" r="0" b="-2602"/>
              </a:stretch>
            </a:blipFill>
          </p:spPr>
        </p:sp>
      </p:grpSp>
      <p:sp>
        <p:nvSpPr>
          <p:cNvPr name="TextBox 19" id="19"/>
          <p:cNvSpPr txBox="true"/>
          <p:nvPr/>
        </p:nvSpPr>
        <p:spPr>
          <a:xfrm rot="0">
            <a:off x="10482842" y="5139188"/>
            <a:ext cx="7073261" cy="2235278"/>
          </a:xfrm>
          <a:prstGeom prst="rect">
            <a:avLst/>
          </a:prstGeom>
        </p:spPr>
        <p:txBody>
          <a:bodyPr anchor="t" rtlCol="false" tIns="0" lIns="0" bIns="0" rIns="0">
            <a:spAutoFit/>
          </a:bodyPr>
          <a:lstStyle/>
          <a:p>
            <a:pPr algn="l">
              <a:lnSpc>
                <a:spcPts val="4420"/>
              </a:lnSpc>
            </a:pPr>
            <a:r>
              <a:rPr lang="en-US" b="true" sz="4420" spc="-110">
                <a:solidFill>
                  <a:srgbClr val="000000"/>
                </a:solidFill>
                <a:latin typeface="Cardo Bold"/>
                <a:ea typeface="Cardo Bold"/>
                <a:cs typeface="Cardo Bold"/>
                <a:sym typeface="Cardo Bold"/>
              </a:rPr>
              <a:t>Submitted To:</a:t>
            </a:r>
          </a:p>
          <a:p>
            <a:pPr algn="l">
              <a:lnSpc>
                <a:spcPts val="4420"/>
              </a:lnSpc>
            </a:pPr>
            <a:r>
              <a:rPr lang="en-US" sz="4420" spc="-110">
                <a:solidFill>
                  <a:srgbClr val="000000"/>
                </a:solidFill>
                <a:latin typeface="Cardo"/>
                <a:ea typeface="Cardo"/>
                <a:cs typeface="Cardo"/>
                <a:sym typeface="Cardo"/>
              </a:rPr>
              <a:t>Nazmun Nahar Tui</a:t>
            </a:r>
          </a:p>
          <a:p>
            <a:pPr algn="l">
              <a:lnSpc>
                <a:spcPts val="4420"/>
              </a:lnSpc>
            </a:pPr>
            <a:r>
              <a:rPr lang="en-US" sz="4420" spc="-110">
                <a:solidFill>
                  <a:srgbClr val="000000"/>
                </a:solidFill>
                <a:latin typeface="Cardo"/>
                <a:ea typeface="Cardo"/>
                <a:cs typeface="Cardo"/>
                <a:sym typeface="Cardo"/>
              </a:rPr>
              <a:t>Lecturer,Dept. of CSE</a:t>
            </a:r>
          </a:p>
          <a:p>
            <a:pPr algn="l">
              <a:lnSpc>
                <a:spcPts val="4420"/>
              </a:lnSpc>
            </a:pPr>
          </a:p>
        </p:txBody>
      </p:sp>
      <p:sp>
        <p:nvSpPr>
          <p:cNvPr name="TextBox 20" id="20"/>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1</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915699" y="4260850"/>
            <a:ext cx="15773251" cy="882650"/>
          </a:xfrm>
          <a:prstGeom prst="rect">
            <a:avLst/>
          </a:prstGeom>
        </p:spPr>
        <p:txBody>
          <a:bodyPr anchor="t" rtlCol="false" tIns="0" lIns="0" bIns="0" rIns="0">
            <a:spAutoFit/>
          </a:bodyPr>
          <a:lstStyle/>
          <a:p>
            <a:pPr algn="l">
              <a:lnSpc>
                <a:spcPts val="7000"/>
              </a:lnSpc>
            </a:pPr>
            <a:r>
              <a:rPr lang="en-US" sz="5562" b="true">
                <a:solidFill>
                  <a:srgbClr val="2E3C4E"/>
                </a:solidFill>
                <a:latin typeface="Barlow Bold"/>
                <a:ea typeface="Barlow Bold"/>
                <a:cs typeface="Barlow Bold"/>
                <a:sym typeface="Barlow Bold"/>
              </a:rPr>
              <a:t>Introduction:</a:t>
            </a:r>
          </a:p>
        </p:txBody>
      </p:sp>
      <p:sp>
        <p:nvSpPr>
          <p:cNvPr name="TextBox 3" id="3"/>
          <p:cNvSpPr txBox="true"/>
          <p:nvPr/>
        </p:nvSpPr>
        <p:spPr>
          <a:xfrm rot="0">
            <a:off x="1028700" y="5578475"/>
            <a:ext cx="17259300" cy="2274022"/>
          </a:xfrm>
          <a:prstGeom prst="rect">
            <a:avLst/>
          </a:prstGeom>
        </p:spPr>
        <p:txBody>
          <a:bodyPr anchor="t" rtlCol="false" tIns="0" lIns="0" bIns="0" rIns="0">
            <a:spAutoFit/>
          </a:bodyPr>
          <a:lstStyle/>
          <a:p>
            <a:pPr algn="l">
              <a:lnSpc>
                <a:spcPts val="3646"/>
              </a:lnSpc>
            </a:pPr>
            <a:r>
              <a:rPr lang="en-US" sz="2897">
                <a:solidFill>
                  <a:srgbClr val="2E3C4E"/>
                </a:solidFill>
                <a:latin typeface="Montserrat"/>
                <a:ea typeface="Montserrat"/>
                <a:cs typeface="Montserrat"/>
                <a:sym typeface="Montserrat"/>
              </a:rPr>
              <a:t>The Job Portal is designed to bridge the gap between job seekers and employers, providing a seamless and efficient recruitment process. The platform will offer user-friendly interfaces, secure authentication, and effective job filtering mechanisms. By utilizing the Laravel stack, the system ensures scalability, security, and maintainability. The project aligns with modern web application standards, focusing on ease of use and robust performance. </a:t>
            </a:r>
          </a:p>
        </p:txBody>
      </p:sp>
      <p:sp>
        <p:nvSpPr>
          <p:cNvPr name="Freeform 4" id="4"/>
          <p:cNvSpPr/>
          <p:nvPr/>
        </p:nvSpPr>
        <p:spPr>
          <a:xfrm flipH="false" flipV="false" rot="0">
            <a:off x="8432726" y="0"/>
            <a:ext cx="9855274" cy="4173700"/>
          </a:xfrm>
          <a:custGeom>
            <a:avLst/>
            <a:gdLst/>
            <a:ahLst/>
            <a:cxnLst/>
            <a:rect r="r" b="b" t="t" l="l"/>
            <a:pathLst>
              <a:path h="4173700" w="9855274">
                <a:moveTo>
                  <a:pt x="0" y="0"/>
                </a:moveTo>
                <a:lnTo>
                  <a:pt x="9855274" y="0"/>
                </a:lnTo>
                <a:lnTo>
                  <a:pt x="9855274" y="4173700"/>
                </a:lnTo>
                <a:lnTo>
                  <a:pt x="0" y="4173700"/>
                </a:lnTo>
                <a:lnTo>
                  <a:pt x="0" y="0"/>
                </a:lnTo>
                <a:close/>
              </a:path>
            </a:pathLst>
          </a:custGeom>
          <a:blipFill>
            <a:blip r:embed="rId2"/>
            <a:stretch>
              <a:fillRect l="0" t="-2588" r="0" b="-2588"/>
            </a:stretch>
          </a:blipFill>
        </p:spPr>
      </p:sp>
      <p:sp>
        <p:nvSpPr>
          <p:cNvPr name="TextBox 5" id="5"/>
          <p:cNvSpPr txBox="true"/>
          <p:nvPr/>
        </p:nvSpPr>
        <p:spPr>
          <a:xfrm rot="0">
            <a:off x="559742" y="1660695"/>
            <a:ext cx="8841433" cy="882650"/>
          </a:xfrm>
          <a:prstGeom prst="rect">
            <a:avLst/>
          </a:prstGeom>
        </p:spPr>
        <p:txBody>
          <a:bodyPr anchor="t" rtlCol="false" tIns="0" lIns="0" bIns="0" rIns="0">
            <a:spAutoFit/>
          </a:bodyPr>
          <a:lstStyle/>
          <a:p>
            <a:pPr algn="l">
              <a:lnSpc>
                <a:spcPts val="7000"/>
              </a:lnSpc>
            </a:pPr>
            <a:r>
              <a:rPr lang="en-US" sz="5562" b="true">
                <a:solidFill>
                  <a:srgbClr val="2E3C4E"/>
                </a:solidFill>
                <a:latin typeface="Barlow Bold"/>
                <a:ea typeface="Barlow Bold"/>
                <a:cs typeface="Barlow Bold"/>
                <a:sym typeface="Barlow Bold"/>
              </a:rPr>
              <a:t>Website name:</a:t>
            </a:r>
            <a:r>
              <a:rPr lang="en-US" sz="5562" b="true">
                <a:solidFill>
                  <a:srgbClr val="2E3C4E"/>
                </a:solidFill>
                <a:latin typeface="Barlow Bold"/>
                <a:ea typeface="Barlow Bold"/>
                <a:cs typeface="Barlow Bold"/>
                <a:sym typeface="Barlow Bold"/>
              </a:rPr>
              <a:t>JobLink</a:t>
            </a:r>
          </a:p>
        </p:txBody>
      </p:sp>
      <p:sp>
        <p:nvSpPr>
          <p:cNvPr name="TextBox 6" id="6"/>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2E3C4E"/>
                </a:solidFill>
                <a:latin typeface="Canva Sans"/>
                <a:ea typeface="Canva Sans"/>
                <a:cs typeface="Canva Sans"/>
                <a:sym typeface="Canva Sans"/>
              </a:rPr>
              <a:t>2</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descr="preencoded.png"/>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0" r="0" b="0"/>
            </a:stretch>
          </a:blipFill>
        </p:spPr>
      </p:sp>
      <p:grpSp>
        <p:nvGrpSpPr>
          <p:cNvPr name="Group 3" id="3"/>
          <p:cNvGrpSpPr/>
          <p:nvPr/>
        </p:nvGrpSpPr>
        <p:grpSpPr>
          <a:xfrm rot="0">
            <a:off x="0" y="0"/>
            <a:ext cx="18288000" cy="10287000"/>
            <a:chOff x="0" y="0"/>
            <a:chExt cx="24384000" cy="13716000"/>
          </a:xfrm>
        </p:grpSpPr>
        <p:sp>
          <p:nvSpPr>
            <p:cNvPr name="Freeform 4" id="4"/>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FFF"/>
            </a:solidFill>
          </p:spPr>
        </p:sp>
      </p:grpSp>
      <p:sp>
        <p:nvSpPr>
          <p:cNvPr name="Freeform 5" id="5" descr="preencoded.png"/>
          <p:cNvSpPr/>
          <p:nvPr/>
        </p:nvSpPr>
        <p:spPr>
          <a:xfrm flipH="false" flipV="false" rot="0">
            <a:off x="0" y="0"/>
            <a:ext cx="18288000" cy="2772088"/>
          </a:xfrm>
          <a:custGeom>
            <a:avLst/>
            <a:gdLst/>
            <a:ahLst/>
            <a:cxnLst/>
            <a:rect r="r" b="b" t="t" l="l"/>
            <a:pathLst>
              <a:path h="2772088" w="18288000">
                <a:moveTo>
                  <a:pt x="0" y="0"/>
                </a:moveTo>
                <a:lnTo>
                  <a:pt x="18288000" y="0"/>
                </a:lnTo>
                <a:lnTo>
                  <a:pt x="18288000" y="2772088"/>
                </a:lnTo>
                <a:lnTo>
                  <a:pt x="0" y="2772088"/>
                </a:lnTo>
                <a:lnTo>
                  <a:pt x="0" y="0"/>
                </a:lnTo>
                <a:close/>
              </a:path>
            </a:pathLst>
          </a:custGeom>
          <a:blipFill>
            <a:blip r:embed="rId4"/>
            <a:stretch>
              <a:fillRect l="-23" t="0" r="-23" b="-28223"/>
            </a:stretch>
          </a:blipFill>
        </p:spPr>
      </p:sp>
      <p:sp>
        <p:nvSpPr>
          <p:cNvPr name="TextBox 6" id="6"/>
          <p:cNvSpPr txBox="true"/>
          <p:nvPr/>
        </p:nvSpPr>
        <p:spPr>
          <a:xfrm rot="0">
            <a:off x="943124" y="3661470"/>
            <a:ext cx="15773251" cy="882650"/>
          </a:xfrm>
          <a:prstGeom prst="rect">
            <a:avLst/>
          </a:prstGeom>
        </p:spPr>
        <p:txBody>
          <a:bodyPr anchor="t" rtlCol="false" tIns="0" lIns="0" bIns="0" rIns="0">
            <a:spAutoFit/>
          </a:bodyPr>
          <a:lstStyle/>
          <a:p>
            <a:pPr algn="l">
              <a:lnSpc>
                <a:spcPts val="7000"/>
              </a:lnSpc>
            </a:pPr>
            <a:r>
              <a:rPr lang="en-US" sz="5562" b="true">
                <a:solidFill>
                  <a:srgbClr val="2E3C4E"/>
                </a:solidFill>
                <a:latin typeface="Barlow Bold"/>
                <a:ea typeface="Barlow Bold"/>
                <a:cs typeface="Barlow Bold"/>
                <a:sym typeface="Barlow Bold"/>
              </a:rPr>
              <a:t>Project Objective: Streamlining the Hiring Process</a:t>
            </a:r>
          </a:p>
        </p:txBody>
      </p:sp>
      <p:grpSp>
        <p:nvGrpSpPr>
          <p:cNvPr name="Group 7" id="7"/>
          <p:cNvGrpSpPr/>
          <p:nvPr/>
        </p:nvGrpSpPr>
        <p:grpSpPr>
          <a:xfrm rot="0">
            <a:off x="943124" y="5024586"/>
            <a:ext cx="8070354" cy="1611065"/>
            <a:chOff x="0" y="0"/>
            <a:chExt cx="10760472" cy="2148087"/>
          </a:xfrm>
        </p:grpSpPr>
        <p:sp>
          <p:nvSpPr>
            <p:cNvPr name="Freeform 8" id="8"/>
            <p:cNvSpPr/>
            <p:nvPr/>
          </p:nvSpPr>
          <p:spPr>
            <a:xfrm flipH="false" flipV="false" rot="0">
              <a:off x="6350" y="6350"/>
              <a:ext cx="10747756" cy="2135378"/>
            </a:xfrm>
            <a:custGeom>
              <a:avLst/>
              <a:gdLst/>
              <a:ahLst/>
              <a:cxnLst/>
              <a:rect r="r" b="b" t="t" l="l"/>
              <a:pathLst>
                <a:path h="2135378" w="10747756">
                  <a:moveTo>
                    <a:pt x="0" y="541655"/>
                  </a:moveTo>
                  <a:cubicBezTo>
                    <a:pt x="0" y="242570"/>
                    <a:pt x="243713" y="0"/>
                    <a:pt x="544195" y="0"/>
                  </a:cubicBezTo>
                  <a:lnTo>
                    <a:pt x="10203561" y="0"/>
                  </a:lnTo>
                  <a:cubicBezTo>
                    <a:pt x="10504170" y="0"/>
                    <a:pt x="10747756" y="242570"/>
                    <a:pt x="10747756" y="541655"/>
                  </a:cubicBezTo>
                  <a:lnTo>
                    <a:pt x="10747756" y="1593723"/>
                  </a:lnTo>
                  <a:cubicBezTo>
                    <a:pt x="10747756" y="1892935"/>
                    <a:pt x="10504043" y="2135378"/>
                    <a:pt x="10203561" y="2135378"/>
                  </a:cubicBezTo>
                  <a:lnTo>
                    <a:pt x="544195" y="2135378"/>
                  </a:lnTo>
                  <a:cubicBezTo>
                    <a:pt x="243713" y="2135378"/>
                    <a:pt x="0" y="1892935"/>
                    <a:pt x="0" y="1593723"/>
                  </a:cubicBezTo>
                  <a:close/>
                </a:path>
              </a:pathLst>
            </a:custGeom>
            <a:solidFill>
              <a:srgbClr val="D4E9F7"/>
            </a:solidFill>
          </p:spPr>
        </p:sp>
        <p:sp>
          <p:nvSpPr>
            <p:cNvPr name="Freeform 9" id="9"/>
            <p:cNvSpPr/>
            <p:nvPr/>
          </p:nvSpPr>
          <p:spPr>
            <a:xfrm flipH="false" flipV="false" rot="0">
              <a:off x="0" y="0"/>
              <a:ext cx="10760456" cy="2148078"/>
            </a:xfrm>
            <a:custGeom>
              <a:avLst/>
              <a:gdLst/>
              <a:ahLst/>
              <a:cxnLst/>
              <a:rect r="r" b="b" t="t" l="l"/>
              <a:pathLst>
                <a:path h="2148078" w="10760456">
                  <a:moveTo>
                    <a:pt x="0" y="548005"/>
                  </a:moveTo>
                  <a:cubicBezTo>
                    <a:pt x="0" y="245364"/>
                    <a:pt x="246507" y="0"/>
                    <a:pt x="550545" y="0"/>
                  </a:cubicBezTo>
                  <a:lnTo>
                    <a:pt x="10209911" y="0"/>
                  </a:lnTo>
                  <a:lnTo>
                    <a:pt x="10209911" y="6350"/>
                  </a:lnTo>
                  <a:lnTo>
                    <a:pt x="10209911" y="0"/>
                  </a:lnTo>
                  <a:cubicBezTo>
                    <a:pt x="10513949" y="0"/>
                    <a:pt x="10760456" y="245364"/>
                    <a:pt x="10760456" y="548005"/>
                  </a:cubicBezTo>
                  <a:lnTo>
                    <a:pt x="10754106" y="548005"/>
                  </a:lnTo>
                  <a:lnTo>
                    <a:pt x="10760456" y="548005"/>
                  </a:lnTo>
                  <a:lnTo>
                    <a:pt x="10760456" y="1600073"/>
                  </a:lnTo>
                  <a:lnTo>
                    <a:pt x="10754106" y="1600073"/>
                  </a:lnTo>
                  <a:lnTo>
                    <a:pt x="10760456" y="1600073"/>
                  </a:lnTo>
                  <a:cubicBezTo>
                    <a:pt x="10760456" y="1902714"/>
                    <a:pt x="10513949" y="2148078"/>
                    <a:pt x="10209911" y="2148078"/>
                  </a:cubicBezTo>
                  <a:lnTo>
                    <a:pt x="10209911" y="2141728"/>
                  </a:lnTo>
                  <a:lnTo>
                    <a:pt x="10209911" y="2148078"/>
                  </a:lnTo>
                  <a:lnTo>
                    <a:pt x="550545" y="2148078"/>
                  </a:lnTo>
                  <a:lnTo>
                    <a:pt x="550545" y="2141728"/>
                  </a:lnTo>
                  <a:lnTo>
                    <a:pt x="550545" y="2148078"/>
                  </a:lnTo>
                  <a:cubicBezTo>
                    <a:pt x="246507" y="2148078"/>
                    <a:pt x="0" y="1902714"/>
                    <a:pt x="0" y="1600073"/>
                  </a:cubicBezTo>
                  <a:lnTo>
                    <a:pt x="0" y="548005"/>
                  </a:lnTo>
                  <a:lnTo>
                    <a:pt x="6350" y="548005"/>
                  </a:lnTo>
                  <a:lnTo>
                    <a:pt x="0" y="548005"/>
                  </a:lnTo>
                  <a:moveTo>
                    <a:pt x="12700" y="548005"/>
                  </a:moveTo>
                  <a:lnTo>
                    <a:pt x="12700" y="1600073"/>
                  </a:lnTo>
                  <a:lnTo>
                    <a:pt x="6350" y="1600073"/>
                  </a:lnTo>
                  <a:lnTo>
                    <a:pt x="12700" y="1600073"/>
                  </a:lnTo>
                  <a:cubicBezTo>
                    <a:pt x="12700" y="1895729"/>
                    <a:pt x="253492" y="2135378"/>
                    <a:pt x="550545" y="2135378"/>
                  </a:cubicBezTo>
                  <a:lnTo>
                    <a:pt x="10209911" y="2135378"/>
                  </a:lnTo>
                  <a:cubicBezTo>
                    <a:pt x="10506964" y="2135378"/>
                    <a:pt x="10747756" y="1895729"/>
                    <a:pt x="10747756" y="1600073"/>
                  </a:cubicBezTo>
                  <a:lnTo>
                    <a:pt x="10747756" y="548005"/>
                  </a:lnTo>
                  <a:cubicBezTo>
                    <a:pt x="10747756" y="252349"/>
                    <a:pt x="10506964" y="12700"/>
                    <a:pt x="10209911" y="12700"/>
                  </a:cubicBezTo>
                  <a:lnTo>
                    <a:pt x="550545" y="12700"/>
                  </a:lnTo>
                  <a:lnTo>
                    <a:pt x="550545" y="6350"/>
                  </a:lnTo>
                  <a:lnTo>
                    <a:pt x="550545" y="12700"/>
                  </a:lnTo>
                  <a:cubicBezTo>
                    <a:pt x="253492" y="12700"/>
                    <a:pt x="12700" y="252349"/>
                    <a:pt x="12700" y="548005"/>
                  </a:cubicBezTo>
                  <a:close/>
                </a:path>
              </a:pathLst>
            </a:custGeom>
            <a:solidFill>
              <a:srgbClr val="BACFDD"/>
            </a:solidFill>
          </p:spPr>
        </p:sp>
      </p:grpSp>
      <p:sp>
        <p:nvSpPr>
          <p:cNvPr name="TextBox 10" id="10"/>
          <p:cNvSpPr txBox="true"/>
          <p:nvPr/>
        </p:nvSpPr>
        <p:spPr>
          <a:xfrm rot="0">
            <a:off x="1228130" y="5342633"/>
            <a:ext cx="7414840" cy="962429"/>
          </a:xfrm>
          <a:prstGeom prst="rect">
            <a:avLst/>
          </a:prstGeom>
        </p:spPr>
        <p:txBody>
          <a:bodyPr anchor="t" rtlCol="false" tIns="0" lIns="0" bIns="0" rIns="0">
            <a:spAutoFit/>
          </a:bodyPr>
          <a:lstStyle/>
          <a:p>
            <a:pPr algn="l">
              <a:lnSpc>
                <a:spcPts val="3881"/>
              </a:lnSpc>
            </a:pPr>
            <a:r>
              <a:rPr lang="en-US" sz="3049" b="true">
                <a:solidFill>
                  <a:srgbClr val="384653"/>
                </a:solidFill>
                <a:latin typeface="Barlow Bold"/>
                <a:ea typeface="Barlow Bold"/>
                <a:cs typeface="Barlow Bold"/>
                <a:sym typeface="Barlow Bold"/>
              </a:rPr>
              <a:t>U</a:t>
            </a:r>
            <a:r>
              <a:rPr lang="en-US" sz="3049" b="true">
                <a:solidFill>
                  <a:srgbClr val="384653"/>
                </a:solidFill>
                <a:latin typeface="Barlow Bold"/>
                <a:ea typeface="Barlow Bold"/>
                <a:cs typeface="Barlow Bold"/>
                <a:sym typeface="Barlow Bold"/>
              </a:rPr>
              <a:t>ser authentication (Job Seekers and Employers)</a:t>
            </a:r>
          </a:p>
        </p:txBody>
      </p:sp>
      <p:grpSp>
        <p:nvGrpSpPr>
          <p:cNvPr name="Group 11" id="11"/>
          <p:cNvGrpSpPr/>
          <p:nvPr/>
        </p:nvGrpSpPr>
        <p:grpSpPr>
          <a:xfrm rot="0">
            <a:off x="9188946" y="5080620"/>
            <a:ext cx="8070354" cy="1611065"/>
            <a:chOff x="0" y="0"/>
            <a:chExt cx="10760472" cy="2148087"/>
          </a:xfrm>
        </p:grpSpPr>
        <p:sp>
          <p:nvSpPr>
            <p:cNvPr name="Freeform 12" id="12"/>
            <p:cNvSpPr/>
            <p:nvPr/>
          </p:nvSpPr>
          <p:spPr>
            <a:xfrm flipH="false" flipV="false" rot="0">
              <a:off x="6350" y="6350"/>
              <a:ext cx="10747756" cy="2135378"/>
            </a:xfrm>
            <a:custGeom>
              <a:avLst/>
              <a:gdLst/>
              <a:ahLst/>
              <a:cxnLst/>
              <a:rect r="r" b="b" t="t" l="l"/>
              <a:pathLst>
                <a:path h="2135378" w="10747756">
                  <a:moveTo>
                    <a:pt x="0" y="541655"/>
                  </a:moveTo>
                  <a:cubicBezTo>
                    <a:pt x="0" y="242570"/>
                    <a:pt x="243713" y="0"/>
                    <a:pt x="544195" y="0"/>
                  </a:cubicBezTo>
                  <a:lnTo>
                    <a:pt x="10203561" y="0"/>
                  </a:lnTo>
                  <a:cubicBezTo>
                    <a:pt x="10504170" y="0"/>
                    <a:pt x="10747756" y="242570"/>
                    <a:pt x="10747756" y="541655"/>
                  </a:cubicBezTo>
                  <a:lnTo>
                    <a:pt x="10747756" y="1593723"/>
                  </a:lnTo>
                  <a:cubicBezTo>
                    <a:pt x="10747756" y="1892935"/>
                    <a:pt x="10504043" y="2135378"/>
                    <a:pt x="10203561" y="2135378"/>
                  </a:cubicBezTo>
                  <a:lnTo>
                    <a:pt x="544195" y="2135378"/>
                  </a:lnTo>
                  <a:cubicBezTo>
                    <a:pt x="243713" y="2135378"/>
                    <a:pt x="0" y="1892935"/>
                    <a:pt x="0" y="1593723"/>
                  </a:cubicBezTo>
                  <a:close/>
                </a:path>
              </a:pathLst>
            </a:custGeom>
            <a:solidFill>
              <a:srgbClr val="D4E9F7"/>
            </a:solidFill>
          </p:spPr>
        </p:sp>
        <p:sp>
          <p:nvSpPr>
            <p:cNvPr name="Freeform 13" id="13"/>
            <p:cNvSpPr/>
            <p:nvPr/>
          </p:nvSpPr>
          <p:spPr>
            <a:xfrm flipH="false" flipV="false" rot="0">
              <a:off x="0" y="0"/>
              <a:ext cx="10760456" cy="2148078"/>
            </a:xfrm>
            <a:custGeom>
              <a:avLst/>
              <a:gdLst/>
              <a:ahLst/>
              <a:cxnLst/>
              <a:rect r="r" b="b" t="t" l="l"/>
              <a:pathLst>
                <a:path h="2148078" w="10760456">
                  <a:moveTo>
                    <a:pt x="0" y="548005"/>
                  </a:moveTo>
                  <a:cubicBezTo>
                    <a:pt x="0" y="245364"/>
                    <a:pt x="246507" y="0"/>
                    <a:pt x="550545" y="0"/>
                  </a:cubicBezTo>
                  <a:lnTo>
                    <a:pt x="10209911" y="0"/>
                  </a:lnTo>
                  <a:lnTo>
                    <a:pt x="10209911" y="6350"/>
                  </a:lnTo>
                  <a:lnTo>
                    <a:pt x="10209911" y="0"/>
                  </a:lnTo>
                  <a:cubicBezTo>
                    <a:pt x="10513949" y="0"/>
                    <a:pt x="10760456" y="245364"/>
                    <a:pt x="10760456" y="548005"/>
                  </a:cubicBezTo>
                  <a:lnTo>
                    <a:pt x="10754106" y="548005"/>
                  </a:lnTo>
                  <a:lnTo>
                    <a:pt x="10760456" y="548005"/>
                  </a:lnTo>
                  <a:lnTo>
                    <a:pt x="10760456" y="1600073"/>
                  </a:lnTo>
                  <a:lnTo>
                    <a:pt x="10754106" y="1600073"/>
                  </a:lnTo>
                  <a:lnTo>
                    <a:pt x="10760456" y="1600073"/>
                  </a:lnTo>
                  <a:cubicBezTo>
                    <a:pt x="10760456" y="1902714"/>
                    <a:pt x="10513949" y="2148078"/>
                    <a:pt x="10209911" y="2148078"/>
                  </a:cubicBezTo>
                  <a:lnTo>
                    <a:pt x="10209911" y="2141728"/>
                  </a:lnTo>
                  <a:lnTo>
                    <a:pt x="10209911" y="2148078"/>
                  </a:lnTo>
                  <a:lnTo>
                    <a:pt x="550545" y="2148078"/>
                  </a:lnTo>
                  <a:lnTo>
                    <a:pt x="550545" y="2141728"/>
                  </a:lnTo>
                  <a:lnTo>
                    <a:pt x="550545" y="2148078"/>
                  </a:lnTo>
                  <a:cubicBezTo>
                    <a:pt x="246507" y="2148078"/>
                    <a:pt x="0" y="1902714"/>
                    <a:pt x="0" y="1600073"/>
                  </a:cubicBezTo>
                  <a:lnTo>
                    <a:pt x="0" y="548005"/>
                  </a:lnTo>
                  <a:lnTo>
                    <a:pt x="6350" y="548005"/>
                  </a:lnTo>
                  <a:lnTo>
                    <a:pt x="0" y="548005"/>
                  </a:lnTo>
                  <a:moveTo>
                    <a:pt x="12700" y="548005"/>
                  </a:moveTo>
                  <a:lnTo>
                    <a:pt x="12700" y="1600073"/>
                  </a:lnTo>
                  <a:lnTo>
                    <a:pt x="6350" y="1600073"/>
                  </a:lnTo>
                  <a:lnTo>
                    <a:pt x="12700" y="1600073"/>
                  </a:lnTo>
                  <a:cubicBezTo>
                    <a:pt x="12700" y="1895729"/>
                    <a:pt x="253492" y="2135378"/>
                    <a:pt x="550545" y="2135378"/>
                  </a:cubicBezTo>
                  <a:lnTo>
                    <a:pt x="10209911" y="2135378"/>
                  </a:lnTo>
                  <a:cubicBezTo>
                    <a:pt x="10506964" y="2135378"/>
                    <a:pt x="10747756" y="1895729"/>
                    <a:pt x="10747756" y="1600073"/>
                  </a:cubicBezTo>
                  <a:lnTo>
                    <a:pt x="10747756" y="548005"/>
                  </a:lnTo>
                  <a:cubicBezTo>
                    <a:pt x="10747756" y="252349"/>
                    <a:pt x="10506964" y="12700"/>
                    <a:pt x="10209911" y="12700"/>
                  </a:cubicBezTo>
                  <a:lnTo>
                    <a:pt x="550545" y="12700"/>
                  </a:lnTo>
                  <a:lnTo>
                    <a:pt x="550545" y="6350"/>
                  </a:lnTo>
                  <a:lnTo>
                    <a:pt x="550545" y="12700"/>
                  </a:lnTo>
                  <a:cubicBezTo>
                    <a:pt x="253492" y="12700"/>
                    <a:pt x="12700" y="252349"/>
                    <a:pt x="12700" y="548005"/>
                  </a:cubicBezTo>
                  <a:close/>
                </a:path>
              </a:pathLst>
            </a:custGeom>
            <a:solidFill>
              <a:srgbClr val="BACFDD"/>
            </a:solidFill>
          </p:spPr>
        </p:sp>
      </p:grpSp>
      <p:sp>
        <p:nvSpPr>
          <p:cNvPr name="TextBox 14" id="14"/>
          <p:cNvSpPr txBox="true"/>
          <p:nvPr/>
        </p:nvSpPr>
        <p:spPr>
          <a:xfrm rot="0">
            <a:off x="9693331" y="5604694"/>
            <a:ext cx="6226820" cy="476654"/>
          </a:xfrm>
          <a:prstGeom prst="rect">
            <a:avLst/>
          </a:prstGeom>
        </p:spPr>
        <p:txBody>
          <a:bodyPr anchor="t" rtlCol="false" tIns="0" lIns="0" bIns="0" rIns="0">
            <a:spAutoFit/>
          </a:bodyPr>
          <a:lstStyle/>
          <a:p>
            <a:pPr algn="l">
              <a:lnSpc>
                <a:spcPts val="3881"/>
              </a:lnSpc>
            </a:pPr>
            <a:r>
              <a:rPr lang="en-US" sz="3049" b="true">
                <a:solidFill>
                  <a:srgbClr val="384653"/>
                </a:solidFill>
                <a:latin typeface="Barlow Bold"/>
                <a:ea typeface="Barlow Bold"/>
                <a:cs typeface="Barlow Bold"/>
                <a:sym typeface="Barlow Bold"/>
              </a:rPr>
              <a:t>P</a:t>
            </a:r>
            <a:r>
              <a:rPr lang="en-US" sz="3049" b="true">
                <a:solidFill>
                  <a:srgbClr val="384653"/>
                </a:solidFill>
                <a:latin typeface="Barlow Bold"/>
                <a:ea typeface="Barlow Bold"/>
                <a:cs typeface="Barlow Bold"/>
                <a:sym typeface="Barlow Bold"/>
              </a:rPr>
              <a:t>rofile and resume management</a:t>
            </a:r>
          </a:p>
        </p:txBody>
      </p:sp>
      <p:grpSp>
        <p:nvGrpSpPr>
          <p:cNvPr name="Group 15" id="15"/>
          <p:cNvGrpSpPr/>
          <p:nvPr/>
        </p:nvGrpSpPr>
        <p:grpSpPr>
          <a:xfrm rot="0">
            <a:off x="943124" y="7540005"/>
            <a:ext cx="8070354" cy="1611065"/>
            <a:chOff x="0" y="0"/>
            <a:chExt cx="10760472" cy="2148087"/>
          </a:xfrm>
        </p:grpSpPr>
        <p:sp>
          <p:nvSpPr>
            <p:cNvPr name="Freeform 16" id="16"/>
            <p:cNvSpPr/>
            <p:nvPr/>
          </p:nvSpPr>
          <p:spPr>
            <a:xfrm flipH="false" flipV="false" rot="0">
              <a:off x="6350" y="6350"/>
              <a:ext cx="10747756" cy="2135378"/>
            </a:xfrm>
            <a:custGeom>
              <a:avLst/>
              <a:gdLst/>
              <a:ahLst/>
              <a:cxnLst/>
              <a:rect r="r" b="b" t="t" l="l"/>
              <a:pathLst>
                <a:path h="2135378" w="10747756">
                  <a:moveTo>
                    <a:pt x="0" y="541655"/>
                  </a:moveTo>
                  <a:cubicBezTo>
                    <a:pt x="0" y="242570"/>
                    <a:pt x="243713" y="0"/>
                    <a:pt x="544195" y="0"/>
                  </a:cubicBezTo>
                  <a:lnTo>
                    <a:pt x="10203561" y="0"/>
                  </a:lnTo>
                  <a:cubicBezTo>
                    <a:pt x="10504170" y="0"/>
                    <a:pt x="10747756" y="242570"/>
                    <a:pt x="10747756" y="541655"/>
                  </a:cubicBezTo>
                  <a:lnTo>
                    <a:pt x="10747756" y="1593723"/>
                  </a:lnTo>
                  <a:cubicBezTo>
                    <a:pt x="10747756" y="1892935"/>
                    <a:pt x="10504043" y="2135378"/>
                    <a:pt x="10203561" y="2135378"/>
                  </a:cubicBezTo>
                  <a:lnTo>
                    <a:pt x="544195" y="2135378"/>
                  </a:lnTo>
                  <a:cubicBezTo>
                    <a:pt x="243713" y="2135378"/>
                    <a:pt x="0" y="1892935"/>
                    <a:pt x="0" y="1593723"/>
                  </a:cubicBezTo>
                  <a:close/>
                </a:path>
              </a:pathLst>
            </a:custGeom>
            <a:solidFill>
              <a:srgbClr val="D4E9F7"/>
            </a:solidFill>
          </p:spPr>
        </p:sp>
        <p:sp>
          <p:nvSpPr>
            <p:cNvPr name="Freeform 17" id="17"/>
            <p:cNvSpPr/>
            <p:nvPr/>
          </p:nvSpPr>
          <p:spPr>
            <a:xfrm flipH="false" flipV="false" rot="0">
              <a:off x="0" y="0"/>
              <a:ext cx="10760456" cy="2148078"/>
            </a:xfrm>
            <a:custGeom>
              <a:avLst/>
              <a:gdLst/>
              <a:ahLst/>
              <a:cxnLst/>
              <a:rect r="r" b="b" t="t" l="l"/>
              <a:pathLst>
                <a:path h="2148078" w="10760456">
                  <a:moveTo>
                    <a:pt x="0" y="548005"/>
                  </a:moveTo>
                  <a:cubicBezTo>
                    <a:pt x="0" y="245364"/>
                    <a:pt x="246507" y="0"/>
                    <a:pt x="550545" y="0"/>
                  </a:cubicBezTo>
                  <a:lnTo>
                    <a:pt x="10209911" y="0"/>
                  </a:lnTo>
                  <a:lnTo>
                    <a:pt x="10209911" y="6350"/>
                  </a:lnTo>
                  <a:lnTo>
                    <a:pt x="10209911" y="0"/>
                  </a:lnTo>
                  <a:cubicBezTo>
                    <a:pt x="10513949" y="0"/>
                    <a:pt x="10760456" y="245364"/>
                    <a:pt x="10760456" y="548005"/>
                  </a:cubicBezTo>
                  <a:lnTo>
                    <a:pt x="10754106" y="548005"/>
                  </a:lnTo>
                  <a:lnTo>
                    <a:pt x="10760456" y="548005"/>
                  </a:lnTo>
                  <a:lnTo>
                    <a:pt x="10760456" y="1600073"/>
                  </a:lnTo>
                  <a:lnTo>
                    <a:pt x="10754106" y="1600073"/>
                  </a:lnTo>
                  <a:lnTo>
                    <a:pt x="10760456" y="1600073"/>
                  </a:lnTo>
                  <a:cubicBezTo>
                    <a:pt x="10760456" y="1902714"/>
                    <a:pt x="10513949" y="2148078"/>
                    <a:pt x="10209911" y="2148078"/>
                  </a:cubicBezTo>
                  <a:lnTo>
                    <a:pt x="10209911" y="2141728"/>
                  </a:lnTo>
                  <a:lnTo>
                    <a:pt x="10209911" y="2148078"/>
                  </a:lnTo>
                  <a:lnTo>
                    <a:pt x="550545" y="2148078"/>
                  </a:lnTo>
                  <a:lnTo>
                    <a:pt x="550545" y="2141728"/>
                  </a:lnTo>
                  <a:lnTo>
                    <a:pt x="550545" y="2148078"/>
                  </a:lnTo>
                  <a:cubicBezTo>
                    <a:pt x="246507" y="2148078"/>
                    <a:pt x="0" y="1902714"/>
                    <a:pt x="0" y="1600073"/>
                  </a:cubicBezTo>
                  <a:lnTo>
                    <a:pt x="0" y="548005"/>
                  </a:lnTo>
                  <a:lnTo>
                    <a:pt x="6350" y="548005"/>
                  </a:lnTo>
                  <a:lnTo>
                    <a:pt x="0" y="548005"/>
                  </a:lnTo>
                  <a:moveTo>
                    <a:pt x="12700" y="548005"/>
                  </a:moveTo>
                  <a:lnTo>
                    <a:pt x="12700" y="1600073"/>
                  </a:lnTo>
                  <a:lnTo>
                    <a:pt x="6350" y="1600073"/>
                  </a:lnTo>
                  <a:lnTo>
                    <a:pt x="12700" y="1600073"/>
                  </a:lnTo>
                  <a:cubicBezTo>
                    <a:pt x="12700" y="1895729"/>
                    <a:pt x="253492" y="2135378"/>
                    <a:pt x="550545" y="2135378"/>
                  </a:cubicBezTo>
                  <a:lnTo>
                    <a:pt x="10209911" y="2135378"/>
                  </a:lnTo>
                  <a:cubicBezTo>
                    <a:pt x="10506964" y="2135378"/>
                    <a:pt x="10747756" y="1895729"/>
                    <a:pt x="10747756" y="1600073"/>
                  </a:cubicBezTo>
                  <a:lnTo>
                    <a:pt x="10747756" y="548005"/>
                  </a:lnTo>
                  <a:cubicBezTo>
                    <a:pt x="10747756" y="252349"/>
                    <a:pt x="10506964" y="12700"/>
                    <a:pt x="10209911" y="12700"/>
                  </a:cubicBezTo>
                  <a:lnTo>
                    <a:pt x="550545" y="12700"/>
                  </a:lnTo>
                  <a:lnTo>
                    <a:pt x="550545" y="6350"/>
                  </a:lnTo>
                  <a:lnTo>
                    <a:pt x="550545" y="12700"/>
                  </a:lnTo>
                  <a:cubicBezTo>
                    <a:pt x="253492" y="12700"/>
                    <a:pt x="12700" y="252349"/>
                    <a:pt x="12700" y="548005"/>
                  </a:cubicBezTo>
                  <a:close/>
                </a:path>
              </a:pathLst>
            </a:custGeom>
            <a:solidFill>
              <a:srgbClr val="BACFDD"/>
            </a:solidFill>
          </p:spPr>
        </p:sp>
      </p:grpSp>
      <p:sp>
        <p:nvSpPr>
          <p:cNvPr name="TextBox 18" id="18"/>
          <p:cNvSpPr txBox="true"/>
          <p:nvPr/>
        </p:nvSpPr>
        <p:spPr>
          <a:xfrm rot="0">
            <a:off x="1228130" y="8100269"/>
            <a:ext cx="7785347" cy="476654"/>
          </a:xfrm>
          <a:prstGeom prst="rect">
            <a:avLst/>
          </a:prstGeom>
        </p:spPr>
        <p:txBody>
          <a:bodyPr anchor="t" rtlCol="false" tIns="0" lIns="0" bIns="0" rIns="0">
            <a:spAutoFit/>
          </a:bodyPr>
          <a:lstStyle/>
          <a:p>
            <a:pPr algn="l">
              <a:lnSpc>
                <a:spcPts val="3881"/>
              </a:lnSpc>
            </a:pPr>
            <a:r>
              <a:rPr lang="en-US" sz="3049" b="true">
                <a:solidFill>
                  <a:srgbClr val="384653"/>
                </a:solidFill>
                <a:latin typeface="Barlow Bold"/>
                <a:ea typeface="Barlow Bold"/>
                <a:cs typeface="Barlow Bold"/>
                <a:sym typeface="Barlow Bold"/>
              </a:rPr>
              <a:t>J</a:t>
            </a:r>
            <a:r>
              <a:rPr lang="en-US" sz="3049" b="true">
                <a:solidFill>
                  <a:srgbClr val="384653"/>
                </a:solidFill>
                <a:latin typeface="Barlow Bold"/>
                <a:ea typeface="Barlow Bold"/>
                <a:cs typeface="Barlow Bold"/>
                <a:sym typeface="Barlow Bold"/>
              </a:rPr>
              <a:t>ob search and filtering </a:t>
            </a:r>
          </a:p>
        </p:txBody>
      </p:sp>
      <p:grpSp>
        <p:nvGrpSpPr>
          <p:cNvPr name="Group 19" id="19"/>
          <p:cNvGrpSpPr/>
          <p:nvPr/>
        </p:nvGrpSpPr>
        <p:grpSpPr>
          <a:xfrm rot="0">
            <a:off x="9274671" y="7615237"/>
            <a:ext cx="8070354" cy="1611065"/>
            <a:chOff x="0" y="0"/>
            <a:chExt cx="10760472" cy="2148087"/>
          </a:xfrm>
        </p:grpSpPr>
        <p:sp>
          <p:nvSpPr>
            <p:cNvPr name="Freeform 20" id="20"/>
            <p:cNvSpPr/>
            <p:nvPr/>
          </p:nvSpPr>
          <p:spPr>
            <a:xfrm flipH="false" flipV="false" rot="0">
              <a:off x="6350" y="6350"/>
              <a:ext cx="10747756" cy="2135378"/>
            </a:xfrm>
            <a:custGeom>
              <a:avLst/>
              <a:gdLst/>
              <a:ahLst/>
              <a:cxnLst/>
              <a:rect r="r" b="b" t="t" l="l"/>
              <a:pathLst>
                <a:path h="2135378" w="10747756">
                  <a:moveTo>
                    <a:pt x="0" y="541655"/>
                  </a:moveTo>
                  <a:cubicBezTo>
                    <a:pt x="0" y="242570"/>
                    <a:pt x="243713" y="0"/>
                    <a:pt x="544195" y="0"/>
                  </a:cubicBezTo>
                  <a:lnTo>
                    <a:pt x="10203561" y="0"/>
                  </a:lnTo>
                  <a:cubicBezTo>
                    <a:pt x="10504170" y="0"/>
                    <a:pt x="10747756" y="242570"/>
                    <a:pt x="10747756" y="541655"/>
                  </a:cubicBezTo>
                  <a:lnTo>
                    <a:pt x="10747756" y="1593723"/>
                  </a:lnTo>
                  <a:cubicBezTo>
                    <a:pt x="10747756" y="1892935"/>
                    <a:pt x="10504043" y="2135378"/>
                    <a:pt x="10203561" y="2135378"/>
                  </a:cubicBezTo>
                  <a:lnTo>
                    <a:pt x="544195" y="2135378"/>
                  </a:lnTo>
                  <a:cubicBezTo>
                    <a:pt x="243713" y="2135378"/>
                    <a:pt x="0" y="1892935"/>
                    <a:pt x="0" y="1593723"/>
                  </a:cubicBezTo>
                  <a:close/>
                </a:path>
              </a:pathLst>
            </a:custGeom>
            <a:solidFill>
              <a:srgbClr val="D4E9F7"/>
            </a:solidFill>
          </p:spPr>
        </p:sp>
        <p:sp>
          <p:nvSpPr>
            <p:cNvPr name="Freeform 21" id="21"/>
            <p:cNvSpPr/>
            <p:nvPr/>
          </p:nvSpPr>
          <p:spPr>
            <a:xfrm flipH="false" flipV="false" rot="0">
              <a:off x="0" y="0"/>
              <a:ext cx="10760456" cy="2148078"/>
            </a:xfrm>
            <a:custGeom>
              <a:avLst/>
              <a:gdLst/>
              <a:ahLst/>
              <a:cxnLst/>
              <a:rect r="r" b="b" t="t" l="l"/>
              <a:pathLst>
                <a:path h="2148078" w="10760456">
                  <a:moveTo>
                    <a:pt x="0" y="548005"/>
                  </a:moveTo>
                  <a:cubicBezTo>
                    <a:pt x="0" y="245364"/>
                    <a:pt x="246507" y="0"/>
                    <a:pt x="550545" y="0"/>
                  </a:cubicBezTo>
                  <a:lnTo>
                    <a:pt x="10209911" y="0"/>
                  </a:lnTo>
                  <a:lnTo>
                    <a:pt x="10209911" y="6350"/>
                  </a:lnTo>
                  <a:lnTo>
                    <a:pt x="10209911" y="0"/>
                  </a:lnTo>
                  <a:cubicBezTo>
                    <a:pt x="10513949" y="0"/>
                    <a:pt x="10760456" y="245364"/>
                    <a:pt x="10760456" y="548005"/>
                  </a:cubicBezTo>
                  <a:lnTo>
                    <a:pt x="10754106" y="548005"/>
                  </a:lnTo>
                  <a:lnTo>
                    <a:pt x="10760456" y="548005"/>
                  </a:lnTo>
                  <a:lnTo>
                    <a:pt x="10760456" y="1600073"/>
                  </a:lnTo>
                  <a:lnTo>
                    <a:pt x="10754106" y="1600073"/>
                  </a:lnTo>
                  <a:lnTo>
                    <a:pt x="10760456" y="1600073"/>
                  </a:lnTo>
                  <a:cubicBezTo>
                    <a:pt x="10760456" y="1902714"/>
                    <a:pt x="10513949" y="2148078"/>
                    <a:pt x="10209911" y="2148078"/>
                  </a:cubicBezTo>
                  <a:lnTo>
                    <a:pt x="10209911" y="2141728"/>
                  </a:lnTo>
                  <a:lnTo>
                    <a:pt x="10209911" y="2148078"/>
                  </a:lnTo>
                  <a:lnTo>
                    <a:pt x="550545" y="2148078"/>
                  </a:lnTo>
                  <a:lnTo>
                    <a:pt x="550545" y="2141728"/>
                  </a:lnTo>
                  <a:lnTo>
                    <a:pt x="550545" y="2148078"/>
                  </a:lnTo>
                  <a:cubicBezTo>
                    <a:pt x="246507" y="2148078"/>
                    <a:pt x="0" y="1902714"/>
                    <a:pt x="0" y="1600073"/>
                  </a:cubicBezTo>
                  <a:lnTo>
                    <a:pt x="0" y="548005"/>
                  </a:lnTo>
                  <a:lnTo>
                    <a:pt x="6350" y="548005"/>
                  </a:lnTo>
                  <a:lnTo>
                    <a:pt x="0" y="548005"/>
                  </a:lnTo>
                  <a:moveTo>
                    <a:pt x="12700" y="548005"/>
                  </a:moveTo>
                  <a:lnTo>
                    <a:pt x="12700" y="1600073"/>
                  </a:lnTo>
                  <a:lnTo>
                    <a:pt x="6350" y="1600073"/>
                  </a:lnTo>
                  <a:lnTo>
                    <a:pt x="12700" y="1600073"/>
                  </a:lnTo>
                  <a:cubicBezTo>
                    <a:pt x="12700" y="1895729"/>
                    <a:pt x="253492" y="2135378"/>
                    <a:pt x="550545" y="2135378"/>
                  </a:cubicBezTo>
                  <a:lnTo>
                    <a:pt x="10209911" y="2135378"/>
                  </a:lnTo>
                  <a:cubicBezTo>
                    <a:pt x="10506964" y="2135378"/>
                    <a:pt x="10747756" y="1895729"/>
                    <a:pt x="10747756" y="1600073"/>
                  </a:cubicBezTo>
                  <a:lnTo>
                    <a:pt x="10747756" y="548005"/>
                  </a:lnTo>
                  <a:cubicBezTo>
                    <a:pt x="10747756" y="252349"/>
                    <a:pt x="10506964" y="12700"/>
                    <a:pt x="10209911" y="12700"/>
                  </a:cubicBezTo>
                  <a:lnTo>
                    <a:pt x="550545" y="12700"/>
                  </a:lnTo>
                  <a:lnTo>
                    <a:pt x="550545" y="6350"/>
                  </a:lnTo>
                  <a:lnTo>
                    <a:pt x="550545" y="12700"/>
                  </a:lnTo>
                  <a:cubicBezTo>
                    <a:pt x="253492" y="12700"/>
                    <a:pt x="12700" y="252349"/>
                    <a:pt x="12700" y="548005"/>
                  </a:cubicBezTo>
                  <a:close/>
                </a:path>
              </a:pathLst>
            </a:custGeom>
            <a:solidFill>
              <a:srgbClr val="BACFDD"/>
            </a:solidFill>
          </p:spPr>
        </p:sp>
      </p:grpSp>
      <p:sp>
        <p:nvSpPr>
          <p:cNvPr name="TextBox 22" id="22"/>
          <p:cNvSpPr txBox="true"/>
          <p:nvPr/>
        </p:nvSpPr>
        <p:spPr>
          <a:xfrm rot="0">
            <a:off x="9693331" y="8120113"/>
            <a:ext cx="7565969" cy="476654"/>
          </a:xfrm>
          <a:prstGeom prst="rect">
            <a:avLst/>
          </a:prstGeom>
        </p:spPr>
        <p:txBody>
          <a:bodyPr anchor="t" rtlCol="false" tIns="0" lIns="0" bIns="0" rIns="0">
            <a:spAutoFit/>
          </a:bodyPr>
          <a:lstStyle/>
          <a:p>
            <a:pPr algn="l">
              <a:lnSpc>
                <a:spcPts val="3881"/>
              </a:lnSpc>
            </a:pPr>
            <a:r>
              <a:rPr lang="en-US" sz="3049" b="true">
                <a:solidFill>
                  <a:srgbClr val="384653"/>
                </a:solidFill>
                <a:latin typeface="Barlow Bold"/>
                <a:ea typeface="Barlow Bold"/>
                <a:cs typeface="Barlow Bold"/>
                <a:sym typeface="Barlow Bold"/>
              </a:rPr>
              <a:t> Ad</a:t>
            </a:r>
            <a:r>
              <a:rPr lang="en-US" sz="3049" b="true">
                <a:solidFill>
                  <a:srgbClr val="384653"/>
                </a:solidFill>
                <a:latin typeface="Barlow Bold"/>
                <a:ea typeface="Barlow Bold"/>
                <a:cs typeface="Barlow Bold"/>
                <a:sym typeface="Barlow Bold"/>
              </a:rPr>
              <a:t>min panel for moderation</a:t>
            </a:r>
          </a:p>
        </p:txBody>
      </p:sp>
      <p:sp>
        <p:nvSpPr>
          <p:cNvPr name="TextBox 23" id="23"/>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3</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descr="preencoded.png"/>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0" r="0" b="0"/>
            </a:stretch>
          </a:blipFill>
        </p:spPr>
      </p:sp>
      <p:grpSp>
        <p:nvGrpSpPr>
          <p:cNvPr name="Group 3" id="3"/>
          <p:cNvGrpSpPr/>
          <p:nvPr/>
        </p:nvGrpSpPr>
        <p:grpSpPr>
          <a:xfrm rot="0">
            <a:off x="0" y="0"/>
            <a:ext cx="18288000" cy="10287000"/>
            <a:chOff x="0" y="0"/>
            <a:chExt cx="24384000" cy="13716000"/>
          </a:xfrm>
        </p:grpSpPr>
        <p:sp>
          <p:nvSpPr>
            <p:cNvPr name="Freeform 4" id="4"/>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FFF"/>
            </a:solidFill>
          </p:spPr>
        </p:sp>
      </p:grpSp>
      <p:sp>
        <p:nvSpPr>
          <p:cNvPr name="TextBox 5" id="5"/>
          <p:cNvSpPr txBox="true"/>
          <p:nvPr/>
        </p:nvSpPr>
        <p:spPr>
          <a:xfrm rot="0">
            <a:off x="947886" y="2556570"/>
            <a:ext cx="16392228" cy="1819870"/>
          </a:xfrm>
          <a:prstGeom prst="rect">
            <a:avLst/>
          </a:prstGeom>
        </p:spPr>
        <p:txBody>
          <a:bodyPr anchor="t" rtlCol="false" tIns="0" lIns="0" bIns="0" rIns="0">
            <a:spAutoFit/>
          </a:bodyPr>
          <a:lstStyle/>
          <a:p>
            <a:pPr algn="l">
              <a:lnSpc>
                <a:spcPts val="7000"/>
              </a:lnSpc>
            </a:pPr>
            <a:r>
              <a:rPr lang="en-US" sz="5562" b="true">
                <a:solidFill>
                  <a:srgbClr val="2E3C4E"/>
                </a:solidFill>
                <a:latin typeface="Barlow Bold"/>
                <a:ea typeface="Barlow Bold"/>
                <a:cs typeface="Barlow Bold"/>
                <a:sym typeface="Barlow Bold"/>
              </a:rPr>
              <a:t>Technology Stack: Powering a Seamless Experience</a:t>
            </a:r>
          </a:p>
        </p:txBody>
      </p:sp>
      <p:sp>
        <p:nvSpPr>
          <p:cNvPr name="TextBox 6" id="6"/>
          <p:cNvSpPr txBox="true"/>
          <p:nvPr/>
        </p:nvSpPr>
        <p:spPr>
          <a:xfrm rot="0">
            <a:off x="947886" y="5034260"/>
            <a:ext cx="4649241" cy="476654"/>
          </a:xfrm>
          <a:prstGeom prst="rect">
            <a:avLst/>
          </a:prstGeom>
        </p:spPr>
        <p:txBody>
          <a:bodyPr anchor="t" rtlCol="false" tIns="0" lIns="0" bIns="0" rIns="0">
            <a:spAutoFit/>
          </a:bodyPr>
          <a:lstStyle/>
          <a:p>
            <a:pPr algn="l">
              <a:lnSpc>
                <a:spcPts val="3881"/>
              </a:lnSpc>
            </a:pPr>
            <a:r>
              <a:rPr lang="en-US" sz="3049" b="true">
                <a:solidFill>
                  <a:srgbClr val="2E3C4E"/>
                </a:solidFill>
                <a:latin typeface="Barlow Bold"/>
                <a:ea typeface="Barlow Bold"/>
                <a:cs typeface="Barlow Bold"/>
                <a:sym typeface="Barlow Bold"/>
              </a:rPr>
              <a:t>Backend: Laravel PHP</a:t>
            </a:r>
          </a:p>
        </p:txBody>
      </p:sp>
      <p:sp>
        <p:nvSpPr>
          <p:cNvPr name="TextBox 7" id="7"/>
          <p:cNvSpPr txBox="true"/>
          <p:nvPr/>
        </p:nvSpPr>
        <p:spPr>
          <a:xfrm rot="0">
            <a:off x="947886" y="5693122"/>
            <a:ext cx="5022949" cy="942975"/>
          </a:xfrm>
          <a:prstGeom prst="rect">
            <a:avLst/>
          </a:prstGeom>
        </p:spPr>
        <p:txBody>
          <a:bodyPr anchor="t" rtlCol="false" tIns="0" lIns="0" bIns="0" rIns="0">
            <a:spAutoFit/>
          </a:bodyPr>
          <a:lstStyle/>
          <a:p>
            <a:pPr algn="l" marL="320477" indent="-160238" lvl="1">
              <a:lnSpc>
                <a:spcPts val="3374"/>
              </a:lnSpc>
              <a:buFont typeface="Arial"/>
              <a:buChar char="•"/>
            </a:pPr>
            <a:r>
              <a:rPr lang="en-US" sz="2125">
                <a:solidFill>
                  <a:srgbClr val="384653"/>
                </a:solidFill>
                <a:latin typeface="Montserrat"/>
                <a:ea typeface="Montserrat"/>
                <a:cs typeface="Montserrat"/>
                <a:sym typeface="Montserrat"/>
              </a:rPr>
              <a:t>Version 10.x with MVC architecture</a:t>
            </a:r>
          </a:p>
        </p:txBody>
      </p:sp>
      <p:sp>
        <p:nvSpPr>
          <p:cNvPr name="TextBox 8" id="8"/>
          <p:cNvSpPr txBox="true"/>
          <p:nvPr/>
        </p:nvSpPr>
        <p:spPr>
          <a:xfrm rot="0">
            <a:off x="947886" y="6654552"/>
            <a:ext cx="5022949" cy="509588"/>
          </a:xfrm>
          <a:prstGeom prst="rect">
            <a:avLst/>
          </a:prstGeom>
        </p:spPr>
        <p:txBody>
          <a:bodyPr anchor="t" rtlCol="false" tIns="0" lIns="0" bIns="0" rIns="0">
            <a:spAutoFit/>
          </a:bodyPr>
          <a:lstStyle/>
          <a:p>
            <a:pPr algn="l" marL="320477" indent="-160238" lvl="1">
              <a:lnSpc>
                <a:spcPts val="3374"/>
              </a:lnSpc>
              <a:buFont typeface="Arial"/>
              <a:buChar char="•"/>
            </a:pPr>
            <a:r>
              <a:rPr lang="en-US" sz="2125">
                <a:solidFill>
                  <a:srgbClr val="384653"/>
                </a:solidFill>
                <a:latin typeface="Montserrat"/>
                <a:ea typeface="Montserrat"/>
                <a:cs typeface="Montserrat"/>
                <a:sym typeface="Montserrat"/>
              </a:rPr>
              <a:t>RESTful APIs for scalability</a:t>
            </a:r>
          </a:p>
        </p:txBody>
      </p:sp>
      <p:sp>
        <p:nvSpPr>
          <p:cNvPr name="TextBox 9" id="9"/>
          <p:cNvSpPr txBox="true"/>
          <p:nvPr/>
        </p:nvSpPr>
        <p:spPr>
          <a:xfrm rot="0">
            <a:off x="6641158" y="5034260"/>
            <a:ext cx="3563391" cy="476654"/>
          </a:xfrm>
          <a:prstGeom prst="rect">
            <a:avLst/>
          </a:prstGeom>
        </p:spPr>
        <p:txBody>
          <a:bodyPr anchor="t" rtlCol="false" tIns="0" lIns="0" bIns="0" rIns="0">
            <a:spAutoFit/>
          </a:bodyPr>
          <a:lstStyle/>
          <a:p>
            <a:pPr algn="l">
              <a:lnSpc>
                <a:spcPts val="3881"/>
              </a:lnSpc>
            </a:pPr>
            <a:r>
              <a:rPr lang="en-US" sz="3049" b="true">
                <a:solidFill>
                  <a:srgbClr val="2E3C4E"/>
                </a:solidFill>
                <a:latin typeface="Barlow Bold"/>
                <a:ea typeface="Barlow Bold"/>
                <a:cs typeface="Barlow Bold"/>
                <a:sym typeface="Barlow Bold"/>
              </a:rPr>
              <a:t>Frontend: Vue.js</a:t>
            </a:r>
          </a:p>
        </p:txBody>
      </p:sp>
      <p:sp>
        <p:nvSpPr>
          <p:cNvPr name="TextBox 10" id="10"/>
          <p:cNvSpPr txBox="true"/>
          <p:nvPr/>
        </p:nvSpPr>
        <p:spPr>
          <a:xfrm rot="0">
            <a:off x="6641158" y="5693122"/>
            <a:ext cx="5022949" cy="942975"/>
          </a:xfrm>
          <a:prstGeom prst="rect">
            <a:avLst/>
          </a:prstGeom>
        </p:spPr>
        <p:txBody>
          <a:bodyPr anchor="t" rtlCol="false" tIns="0" lIns="0" bIns="0" rIns="0">
            <a:spAutoFit/>
          </a:bodyPr>
          <a:lstStyle/>
          <a:p>
            <a:pPr algn="l" marL="320477" indent="-160238" lvl="1">
              <a:lnSpc>
                <a:spcPts val="3374"/>
              </a:lnSpc>
              <a:buFont typeface="Arial"/>
              <a:buChar char="•"/>
            </a:pPr>
            <a:r>
              <a:rPr lang="en-US" sz="2125">
                <a:solidFill>
                  <a:srgbClr val="384653"/>
                </a:solidFill>
                <a:latin typeface="Montserrat"/>
                <a:ea typeface="Montserrat"/>
                <a:cs typeface="Montserrat"/>
                <a:sym typeface="Montserrat"/>
              </a:rPr>
              <a:t>Version 3.x component-based design</a:t>
            </a:r>
          </a:p>
        </p:txBody>
      </p:sp>
      <p:sp>
        <p:nvSpPr>
          <p:cNvPr name="TextBox 11" id="11"/>
          <p:cNvSpPr txBox="true"/>
          <p:nvPr/>
        </p:nvSpPr>
        <p:spPr>
          <a:xfrm rot="0">
            <a:off x="6641158" y="6654552"/>
            <a:ext cx="5022949" cy="942975"/>
          </a:xfrm>
          <a:prstGeom prst="rect">
            <a:avLst/>
          </a:prstGeom>
        </p:spPr>
        <p:txBody>
          <a:bodyPr anchor="t" rtlCol="false" tIns="0" lIns="0" bIns="0" rIns="0">
            <a:spAutoFit/>
          </a:bodyPr>
          <a:lstStyle/>
          <a:p>
            <a:pPr algn="l" marL="320477" indent="-160238" lvl="1">
              <a:lnSpc>
                <a:spcPts val="3374"/>
              </a:lnSpc>
              <a:buFont typeface="Arial"/>
              <a:buChar char="•"/>
            </a:pPr>
            <a:r>
              <a:rPr lang="en-US" sz="2125">
                <a:solidFill>
                  <a:srgbClr val="384653"/>
                </a:solidFill>
                <a:latin typeface="Montserrat"/>
                <a:ea typeface="Montserrat"/>
                <a:cs typeface="Montserrat"/>
                <a:sym typeface="Montserrat"/>
              </a:rPr>
              <a:t>Vuex for robust state management</a:t>
            </a:r>
          </a:p>
        </p:txBody>
      </p:sp>
      <p:sp>
        <p:nvSpPr>
          <p:cNvPr name="TextBox 12" id="12"/>
          <p:cNvSpPr txBox="true"/>
          <p:nvPr/>
        </p:nvSpPr>
        <p:spPr>
          <a:xfrm rot="0">
            <a:off x="12334429" y="5034260"/>
            <a:ext cx="4924871" cy="476654"/>
          </a:xfrm>
          <a:prstGeom prst="rect">
            <a:avLst/>
          </a:prstGeom>
        </p:spPr>
        <p:txBody>
          <a:bodyPr anchor="t" rtlCol="false" tIns="0" lIns="0" bIns="0" rIns="0">
            <a:spAutoFit/>
          </a:bodyPr>
          <a:lstStyle/>
          <a:p>
            <a:pPr algn="l">
              <a:lnSpc>
                <a:spcPts val="3881"/>
              </a:lnSpc>
            </a:pPr>
            <a:r>
              <a:rPr lang="en-US" sz="3049" b="true">
                <a:solidFill>
                  <a:srgbClr val="2E3C4E"/>
                </a:solidFill>
                <a:latin typeface="Barlow Bold"/>
                <a:ea typeface="Barlow Bold"/>
                <a:cs typeface="Barlow Bold"/>
                <a:sym typeface="Barlow Bold"/>
              </a:rPr>
              <a:t>Database &amp; Other Tech</a:t>
            </a:r>
          </a:p>
        </p:txBody>
      </p:sp>
      <p:sp>
        <p:nvSpPr>
          <p:cNvPr name="TextBox 13" id="13"/>
          <p:cNvSpPr txBox="true"/>
          <p:nvPr/>
        </p:nvSpPr>
        <p:spPr>
          <a:xfrm rot="0">
            <a:off x="12334429" y="5693122"/>
            <a:ext cx="5022949" cy="509588"/>
          </a:xfrm>
          <a:prstGeom prst="rect">
            <a:avLst/>
          </a:prstGeom>
        </p:spPr>
        <p:txBody>
          <a:bodyPr anchor="t" rtlCol="false" tIns="0" lIns="0" bIns="0" rIns="0">
            <a:spAutoFit/>
          </a:bodyPr>
          <a:lstStyle/>
          <a:p>
            <a:pPr algn="l" marL="320477" indent="-160238" lvl="1">
              <a:lnSpc>
                <a:spcPts val="3374"/>
              </a:lnSpc>
              <a:buFont typeface="Arial"/>
              <a:buChar char="•"/>
            </a:pPr>
            <a:r>
              <a:rPr lang="en-US" sz="2125">
                <a:solidFill>
                  <a:srgbClr val="384653"/>
                </a:solidFill>
                <a:latin typeface="Montserrat"/>
                <a:ea typeface="Montserrat"/>
                <a:cs typeface="Montserrat"/>
                <a:sym typeface="Montserrat"/>
              </a:rPr>
              <a:t>MySQL 8.x optimized schema</a:t>
            </a:r>
          </a:p>
        </p:txBody>
      </p:sp>
      <p:sp>
        <p:nvSpPr>
          <p:cNvPr name="TextBox 14" id="14"/>
          <p:cNvSpPr txBox="true"/>
          <p:nvPr/>
        </p:nvSpPr>
        <p:spPr>
          <a:xfrm rot="0">
            <a:off x="12334429" y="6221165"/>
            <a:ext cx="5022949" cy="942975"/>
          </a:xfrm>
          <a:prstGeom prst="rect">
            <a:avLst/>
          </a:prstGeom>
        </p:spPr>
        <p:txBody>
          <a:bodyPr anchor="t" rtlCol="false" tIns="0" lIns="0" bIns="0" rIns="0">
            <a:spAutoFit/>
          </a:bodyPr>
          <a:lstStyle/>
          <a:p>
            <a:pPr algn="l" marL="320477" indent="-160238" lvl="1">
              <a:lnSpc>
                <a:spcPts val="3374"/>
              </a:lnSpc>
              <a:buFont typeface="Arial"/>
              <a:buChar char="•"/>
            </a:pPr>
            <a:r>
              <a:rPr lang="en-US" sz="2125">
                <a:solidFill>
                  <a:srgbClr val="384653"/>
                </a:solidFill>
                <a:latin typeface="Montserrat"/>
                <a:ea typeface="Montserrat"/>
                <a:cs typeface="Montserrat"/>
                <a:sym typeface="Montserrat"/>
              </a:rPr>
              <a:t>HTML5, CSS3, JavaScript ES6+, AJAX</a:t>
            </a:r>
          </a:p>
        </p:txBody>
      </p:sp>
      <p:sp>
        <p:nvSpPr>
          <p:cNvPr name="TextBox 15" id="15"/>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4</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descr="preencoded.png"/>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0" r="0" b="0"/>
            </a:stretch>
          </a:blipFill>
        </p:spPr>
      </p:sp>
      <p:grpSp>
        <p:nvGrpSpPr>
          <p:cNvPr name="Group 3" id="3"/>
          <p:cNvGrpSpPr/>
          <p:nvPr/>
        </p:nvGrpSpPr>
        <p:grpSpPr>
          <a:xfrm rot="0">
            <a:off x="9525" y="0"/>
            <a:ext cx="18288000" cy="10287000"/>
            <a:chOff x="0" y="0"/>
            <a:chExt cx="24384000" cy="13716000"/>
          </a:xfrm>
        </p:grpSpPr>
        <p:sp>
          <p:nvSpPr>
            <p:cNvPr name="Freeform 4" id="4"/>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FFF"/>
            </a:solidFill>
          </p:spPr>
        </p:sp>
      </p:grpSp>
      <p:sp>
        <p:nvSpPr>
          <p:cNvPr name="Freeform 5" id="5" descr="preencoded.png"/>
          <p:cNvSpPr/>
          <p:nvPr/>
        </p:nvSpPr>
        <p:spPr>
          <a:xfrm flipH="false" flipV="false" rot="0">
            <a:off x="0" y="0"/>
            <a:ext cx="18288000" cy="3554462"/>
          </a:xfrm>
          <a:custGeom>
            <a:avLst/>
            <a:gdLst/>
            <a:ahLst/>
            <a:cxnLst/>
            <a:rect r="r" b="b" t="t" l="l"/>
            <a:pathLst>
              <a:path h="3554462" w="18288000">
                <a:moveTo>
                  <a:pt x="0" y="0"/>
                </a:moveTo>
                <a:lnTo>
                  <a:pt x="18288000" y="0"/>
                </a:lnTo>
                <a:lnTo>
                  <a:pt x="18288000" y="3554462"/>
                </a:lnTo>
                <a:lnTo>
                  <a:pt x="0" y="3554462"/>
                </a:lnTo>
                <a:lnTo>
                  <a:pt x="0" y="0"/>
                </a:lnTo>
                <a:close/>
              </a:path>
            </a:pathLst>
          </a:custGeom>
          <a:blipFill>
            <a:blip r:embed="rId4"/>
            <a:stretch>
              <a:fillRect l="-23" t="0" r="-23" b="0"/>
            </a:stretch>
          </a:blipFill>
        </p:spPr>
      </p:sp>
      <p:sp>
        <p:nvSpPr>
          <p:cNvPr name="TextBox 6" id="6"/>
          <p:cNvSpPr txBox="true"/>
          <p:nvPr/>
        </p:nvSpPr>
        <p:spPr>
          <a:xfrm rot="0">
            <a:off x="1028700" y="3907780"/>
            <a:ext cx="13392447" cy="928985"/>
          </a:xfrm>
          <a:prstGeom prst="rect">
            <a:avLst/>
          </a:prstGeom>
        </p:spPr>
        <p:txBody>
          <a:bodyPr anchor="t" rtlCol="false" tIns="0" lIns="0" bIns="0" rIns="0">
            <a:spAutoFit/>
          </a:bodyPr>
          <a:lstStyle/>
          <a:p>
            <a:pPr algn="l">
              <a:lnSpc>
                <a:spcPts val="7000"/>
              </a:lnSpc>
            </a:pPr>
            <a:r>
              <a:rPr lang="en-US" sz="5562" b="true">
                <a:solidFill>
                  <a:srgbClr val="2E3C4E"/>
                </a:solidFill>
                <a:latin typeface="Barlow Bold"/>
                <a:ea typeface="Barlow Bold"/>
                <a:cs typeface="Barlow Bold"/>
                <a:sym typeface="Barlow Bold"/>
              </a:rPr>
              <a:t>Key Features: JobLink’s Core Functionality</a:t>
            </a:r>
          </a:p>
        </p:txBody>
      </p:sp>
      <p:grpSp>
        <p:nvGrpSpPr>
          <p:cNvPr name="Group 7" id="7"/>
          <p:cNvGrpSpPr/>
          <p:nvPr/>
        </p:nvGrpSpPr>
        <p:grpSpPr>
          <a:xfrm rot="0">
            <a:off x="943124" y="6086028"/>
            <a:ext cx="618828" cy="618827"/>
            <a:chOff x="0" y="0"/>
            <a:chExt cx="825103" cy="825103"/>
          </a:xfrm>
        </p:grpSpPr>
        <p:sp>
          <p:nvSpPr>
            <p:cNvPr name="Freeform 8" id="8"/>
            <p:cNvSpPr/>
            <p:nvPr/>
          </p:nvSpPr>
          <p:spPr>
            <a:xfrm flipH="false" flipV="false" rot="0">
              <a:off x="6350" y="6350"/>
              <a:ext cx="812419" cy="812419"/>
            </a:xfrm>
            <a:custGeom>
              <a:avLst/>
              <a:gdLst/>
              <a:ahLst/>
              <a:cxnLst/>
              <a:rect r="r" b="b" t="t" l="l"/>
              <a:pathLst>
                <a:path h="812419" w="812419">
                  <a:moveTo>
                    <a:pt x="0" y="406146"/>
                  </a:moveTo>
                  <a:cubicBezTo>
                    <a:pt x="0" y="181864"/>
                    <a:pt x="181864" y="0"/>
                    <a:pt x="406146" y="0"/>
                  </a:cubicBezTo>
                  <a:cubicBezTo>
                    <a:pt x="630428" y="0"/>
                    <a:pt x="812419" y="181864"/>
                    <a:pt x="812419" y="406146"/>
                  </a:cubicBezTo>
                  <a:cubicBezTo>
                    <a:pt x="812419" y="630428"/>
                    <a:pt x="630555" y="812419"/>
                    <a:pt x="406146" y="812419"/>
                  </a:cubicBezTo>
                  <a:cubicBezTo>
                    <a:pt x="181737" y="812419"/>
                    <a:pt x="0" y="630555"/>
                    <a:pt x="0" y="406146"/>
                  </a:cubicBezTo>
                  <a:close/>
                </a:path>
              </a:pathLst>
            </a:custGeom>
            <a:solidFill>
              <a:srgbClr val="D4E9F7"/>
            </a:solidFill>
          </p:spPr>
        </p:sp>
        <p:sp>
          <p:nvSpPr>
            <p:cNvPr name="Freeform 9" id="9"/>
            <p:cNvSpPr/>
            <p:nvPr/>
          </p:nvSpPr>
          <p:spPr>
            <a:xfrm flipH="false" flipV="false" rot="0">
              <a:off x="0" y="0"/>
              <a:ext cx="825119" cy="825119"/>
            </a:xfrm>
            <a:custGeom>
              <a:avLst/>
              <a:gdLst/>
              <a:ahLst/>
              <a:cxnLst/>
              <a:rect r="r" b="b" t="t" l="l"/>
              <a:pathLst>
                <a:path h="825119" w="825119">
                  <a:moveTo>
                    <a:pt x="0" y="412496"/>
                  </a:moveTo>
                  <a:cubicBezTo>
                    <a:pt x="0" y="184658"/>
                    <a:pt x="184658" y="0"/>
                    <a:pt x="412496" y="0"/>
                  </a:cubicBezTo>
                  <a:cubicBezTo>
                    <a:pt x="413639" y="0"/>
                    <a:pt x="414909" y="381"/>
                    <a:pt x="415925" y="1016"/>
                  </a:cubicBezTo>
                  <a:lnTo>
                    <a:pt x="412496" y="6350"/>
                  </a:lnTo>
                  <a:lnTo>
                    <a:pt x="412496" y="0"/>
                  </a:lnTo>
                  <a:lnTo>
                    <a:pt x="412496" y="6350"/>
                  </a:lnTo>
                  <a:lnTo>
                    <a:pt x="412496" y="0"/>
                  </a:lnTo>
                  <a:cubicBezTo>
                    <a:pt x="640334" y="0"/>
                    <a:pt x="825119" y="184658"/>
                    <a:pt x="825119" y="412496"/>
                  </a:cubicBezTo>
                  <a:cubicBezTo>
                    <a:pt x="825119" y="414909"/>
                    <a:pt x="823722" y="417068"/>
                    <a:pt x="821563" y="418211"/>
                  </a:cubicBezTo>
                  <a:lnTo>
                    <a:pt x="818769" y="412496"/>
                  </a:lnTo>
                  <a:lnTo>
                    <a:pt x="825119" y="412496"/>
                  </a:lnTo>
                  <a:cubicBezTo>
                    <a:pt x="825119" y="640334"/>
                    <a:pt x="640461" y="824992"/>
                    <a:pt x="412623" y="824992"/>
                  </a:cubicBezTo>
                  <a:lnTo>
                    <a:pt x="412623" y="818642"/>
                  </a:lnTo>
                  <a:lnTo>
                    <a:pt x="412623" y="812292"/>
                  </a:lnTo>
                  <a:lnTo>
                    <a:pt x="412623" y="818642"/>
                  </a:lnTo>
                  <a:lnTo>
                    <a:pt x="412623" y="824992"/>
                  </a:lnTo>
                  <a:cubicBezTo>
                    <a:pt x="184658" y="825119"/>
                    <a:pt x="0" y="640334"/>
                    <a:pt x="0" y="412496"/>
                  </a:cubicBezTo>
                  <a:lnTo>
                    <a:pt x="6350" y="412496"/>
                  </a:lnTo>
                  <a:lnTo>
                    <a:pt x="0" y="412496"/>
                  </a:lnTo>
                  <a:moveTo>
                    <a:pt x="12700" y="412496"/>
                  </a:moveTo>
                  <a:lnTo>
                    <a:pt x="6350" y="412496"/>
                  </a:lnTo>
                  <a:lnTo>
                    <a:pt x="12700" y="412496"/>
                  </a:lnTo>
                  <a:cubicBezTo>
                    <a:pt x="12700" y="633349"/>
                    <a:pt x="191770" y="812419"/>
                    <a:pt x="412496" y="812419"/>
                  </a:cubicBezTo>
                  <a:cubicBezTo>
                    <a:pt x="416052" y="812419"/>
                    <a:pt x="418846" y="815213"/>
                    <a:pt x="418846" y="818769"/>
                  </a:cubicBezTo>
                  <a:cubicBezTo>
                    <a:pt x="418846" y="822325"/>
                    <a:pt x="416052" y="825119"/>
                    <a:pt x="412496" y="825119"/>
                  </a:cubicBezTo>
                  <a:cubicBezTo>
                    <a:pt x="408940" y="825119"/>
                    <a:pt x="406146" y="822325"/>
                    <a:pt x="406146" y="818769"/>
                  </a:cubicBezTo>
                  <a:cubicBezTo>
                    <a:pt x="406146" y="815213"/>
                    <a:pt x="408940" y="812419"/>
                    <a:pt x="412496" y="812419"/>
                  </a:cubicBezTo>
                  <a:cubicBezTo>
                    <a:pt x="633349" y="812419"/>
                    <a:pt x="812292" y="633349"/>
                    <a:pt x="812292" y="412623"/>
                  </a:cubicBezTo>
                  <a:cubicBezTo>
                    <a:pt x="812292" y="410210"/>
                    <a:pt x="813689" y="408051"/>
                    <a:pt x="815848" y="406908"/>
                  </a:cubicBezTo>
                  <a:lnTo>
                    <a:pt x="818642" y="412623"/>
                  </a:lnTo>
                  <a:lnTo>
                    <a:pt x="812292" y="412623"/>
                  </a:lnTo>
                  <a:cubicBezTo>
                    <a:pt x="812419" y="191770"/>
                    <a:pt x="633349" y="12700"/>
                    <a:pt x="412496" y="12700"/>
                  </a:cubicBezTo>
                  <a:cubicBezTo>
                    <a:pt x="411353" y="12700"/>
                    <a:pt x="410083" y="12319"/>
                    <a:pt x="409067" y="11684"/>
                  </a:cubicBezTo>
                  <a:lnTo>
                    <a:pt x="412496" y="6350"/>
                  </a:lnTo>
                  <a:lnTo>
                    <a:pt x="412496" y="12700"/>
                  </a:lnTo>
                  <a:cubicBezTo>
                    <a:pt x="191770" y="12700"/>
                    <a:pt x="12700" y="191770"/>
                    <a:pt x="12700" y="412496"/>
                  </a:cubicBezTo>
                  <a:close/>
                </a:path>
              </a:pathLst>
            </a:custGeom>
            <a:solidFill>
              <a:srgbClr val="BACFDD"/>
            </a:solidFill>
          </p:spPr>
        </p:sp>
      </p:grpSp>
      <p:sp>
        <p:nvSpPr>
          <p:cNvPr name="TextBox 10" id="10"/>
          <p:cNvSpPr txBox="true"/>
          <p:nvPr/>
        </p:nvSpPr>
        <p:spPr>
          <a:xfrm rot="0">
            <a:off x="1827907" y="6144220"/>
            <a:ext cx="3563391" cy="473869"/>
          </a:xfrm>
          <a:prstGeom prst="rect">
            <a:avLst/>
          </a:prstGeom>
        </p:spPr>
        <p:txBody>
          <a:bodyPr anchor="t" rtlCol="false" tIns="0" lIns="0" bIns="0" rIns="0">
            <a:spAutoFit/>
          </a:bodyPr>
          <a:lstStyle/>
          <a:p>
            <a:pPr algn="l">
              <a:lnSpc>
                <a:spcPts val="3500"/>
              </a:lnSpc>
            </a:pPr>
            <a:r>
              <a:rPr lang="en-US" sz="2750" b="true">
                <a:solidFill>
                  <a:srgbClr val="384653"/>
                </a:solidFill>
                <a:latin typeface="Barlow Bold"/>
                <a:ea typeface="Barlow Bold"/>
                <a:cs typeface="Barlow Bold"/>
                <a:sym typeface="Barlow Bold"/>
              </a:rPr>
              <a:t>Job Seeker Profiles</a:t>
            </a:r>
          </a:p>
        </p:txBody>
      </p:sp>
      <p:sp>
        <p:nvSpPr>
          <p:cNvPr name="TextBox 11" id="11"/>
          <p:cNvSpPr txBox="true"/>
          <p:nvPr/>
        </p:nvSpPr>
        <p:spPr>
          <a:xfrm rot="0">
            <a:off x="1817861" y="6710362"/>
            <a:ext cx="7146875" cy="509588"/>
          </a:xfrm>
          <a:prstGeom prst="rect">
            <a:avLst/>
          </a:prstGeom>
        </p:spPr>
        <p:txBody>
          <a:bodyPr anchor="t" rtlCol="false" tIns="0" lIns="0" bIns="0" rIns="0">
            <a:spAutoFit/>
          </a:bodyPr>
          <a:lstStyle/>
          <a:p>
            <a:pPr algn="l">
              <a:lnSpc>
                <a:spcPts val="3374"/>
              </a:lnSpc>
            </a:pPr>
            <a:r>
              <a:rPr lang="en-US" sz="2125">
                <a:solidFill>
                  <a:srgbClr val="384653"/>
                </a:solidFill>
                <a:latin typeface="Montserrat"/>
                <a:ea typeface="Montserrat"/>
                <a:cs typeface="Montserrat"/>
                <a:sym typeface="Montserrat"/>
              </a:rPr>
              <a:t>Detailed skills, resume parsing, LinkedIn integration</a:t>
            </a:r>
          </a:p>
        </p:txBody>
      </p:sp>
      <p:grpSp>
        <p:nvGrpSpPr>
          <p:cNvPr name="Group 12" id="12"/>
          <p:cNvGrpSpPr/>
          <p:nvPr/>
        </p:nvGrpSpPr>
        <p:grpSpPr>
          <a:xfrm rot="0">
            <a:off x="9308455" y="6075015"/>
            <a:ext cx="618827" cy="618827"/>
            <a:chOff x="0" y="0"/>
            <a:chExt cx="825103" cy="825103"/>
          </a:xfrm>
        </p:grpSpPr>
        <p:sp>
          <p:nvSpPr>
            <p:cNvPr name="Freeform 13" id="13"/>
            <p:cNvSpPr/>
            <p:nvPr/>
          </p:nvSpPr>
          <p:spPr>
            <a:xfrm flipH="false" flipV="false" rot="0">
              <a:off x="6350" y="6350"/>
              <a:ext cx="812419" cy="812419"/>
            </a:xfrm>
            <a:custGeom>
              <a:avLst/>
              <a:gdLst/>
              <a:ahLst/>
              <a:cxnLst/>
              <a:rect r="r" b="b" t="t" l="l"/>
              <a:pathLst>
                <a:path h="812419" w="812419">
                  <a:moveTo>
                    <a:pt x="0" y="406146"/>
                  </a:moveTo>
                  <a:cubicBezTo>
                    <a:pt x="0" y="181864"/>
                    <a:pt x="181864" y="0"/>
                    <a:pt x="406146" y="0"/>
                  </a:cubicBezTo>
                  <a:cubicBezTo>
                    <a:pt x="630428" y="0"/>
                    <a:pt x="812419" y="181864"/>
                    <a:pt x="812419" y="406146"/>
                  </a:cubicBezTo>
                  <a:cubicBezTo>
                    <a:pt x="812419" y="630428"/>
                    <a:pt x="630555" y="812419"/>
                    <a:pt x="406146" y="812419"/>
                  </a:cubicBezTo>
                  <a:cubicBezTo>
                    <a:pt x="181737" y="812419"/>
                    <a:pt x="0" y="630555"/>
                    <a:pt x="0" y="406146"/>
                  </a:cubicBezTo>
                  <a:close/>
                </a:path>
              </a:pathLst>
            </a:custGeom>
            <a:solidFill>
              <a:srgbClr val="D4E9F7"/>
            </a:solidFill>
          </p:spPr>
        </p:sp>
        <p:sp>
          <p:nvSpPr>
            <p:cNvPr name="Freeform 14" id="14"/>
            <p:cNvSpPr/>
            <p:nvPr/>
          </p:nvSpPr>
          <p:spPr>
            <a:xfrm flipH="false" flipV="false" rot="0">
              <a:off x="0" y="0"/>
              <a:ext cx="825119" cy="825119"/>
            </a:xfrm>
            <a:custGeom>
              <a:avLst/>
              <a:gdLst/>
              <a:ahLst/>
              <a:cxnLst/>
              <a:rect r="r" b="b" t="t" l="l"/>
              <a:pathLst>
                <a:path h="825119" w="825119">
                  <a:moveTo>
                    <a:pt x="0" y="412496"/>
                  </a:moveTo>
                  <a:cubicBezTo>
                    <a:pt x="0" y="184658"/>
                    <a:pt x="184658" y="0"/>
                    <a:pt x="412496" y="0"/>
                  </a:cubicBezTo>
                  <a:cubicBezTo>
                    <a:pt x="413639" y="0"/>
                    <a:pt x="414909" y="381"/>
                    <a:pt x="415925" y="1016"/>
                  </a:cubicBezTo>
                  <a:lnTo>
                    <a:pt x="412496" y="6350"/>
                  </a:lnTo>
                  <a:lnTo>
                    <a:pt x="412496" y="0"/>
                  </a:lnTo>
                  <a:lnTo>
                    <a:pt x="412496" y="6350"/>
                  </a:lnTo>
                  <a:lnTo>
                    <a:pt x="412496" y="0"/>
                  </a:lnTo>
                  <a:cubicBezTo>
                    <a:pt x="640334" y="0"/>
                    <a:pt x="825119" y="184658"/>
                    <a:pt x="825119" y="412496"/>
                  </a:cubicBezTo>
                  <a:cubicBezTo>
                    <a:pt x="825119" y="414909"/>
                    <a:pt x="823722" y="417068"/>
                    <a:pt x="821563" y="418211"/>
                  </a:cubicBezTo>
                  <a:lnTo>
                    <a:pt x="818769" y="412496"/>
                  </a:lnTo>
                  <a:lnTo>
                    <a:pt x="825119" y="412496"/>
                  </a:lnTo>
                  <a:cubicBezTo>
                    <a:pt x="825119" y="640334"/>
                    <a:pt x="640461" y="824992"/>
                    <a:pt x="412623" y="824992"/>
                  </a:cubicBezTo>
                  <a:lnTo>
                    <a:pt x="412623" y="818642"/>
                  </a:lnTo>
                  <a:lnTo>
                    <a:pt x="412623" y="812292"/>
                  </a:lnTo>
                  <a:lnTo>
                    <a:pt x="412623" y="818642"/>
                  </a:lnTo>
                  <a:lnTo>
                    <a:pt x="412623" y="824992"/>
                  </a:lnTo>
                  <a:cubicBezTo>
                    <a:pt x="184658" y="825119"/>
                    <a:pt x="0" y="640334"/>
                    <a:pt x="0" y="412496"/>
                  </a:cubicBezTo>
                  <a:lnTo>
                    <a:pt x="6350" y="412496"/>
                  </a:lnTo>
                  <a:lnTo>
                    <a:pt x="0" y="412496"/>
                  </a:lnTo>
                  <a:moveTo>
                    <a:pt x="12700" y="412496"/>
                  </a:moveTo>
                  <a:lnTo>
                    <a:pt x="6350" y="412496"/>
                  </a:lnTo>
                  <a:lnTo>
                    <a:pt x="12700" y="412496"/>
                  </a:lnTo>
                  <a:cubicBezTo>
                    <a:pt x="12700" y="633349"/>
                    <a:pt x="191770" y="812419"/>
                    <a:pt x="412496" y="812419"/>
                  </a:cubicBezTo>
                  <a:cubicBezTo>
                    <a:pt x="416052" y="812419"/>
                    <a:pt x="418846" y="815213"/>
                    <a:pt x="418846" y="818769"/>
                  </a:cubicBezTo>
                  <a:cubicBezTo>
                    <a:pt x="418846" y="822325"/>
                    <a:pt x="416052" y="825119"/>
                    <a:pt x="412496" y="825119"/>
                  </a:cubicBezTo>
                  <a:cubicBezTo>
                    <a:pt x="408940" y="825119"/>
                    <a:pt x="406146" y="822325"/>
                    <a:pt x="406146" y="818769"/>
                  </a:cubicBezTo>
                  <a:cubicBezTo>
                    <a:pt x="406146" y="815213"/>
                    <a:pt x="408940" y="812419"/>
                    <a:pt x="412496" y="812419"/>
                  </a:cubicBezTo>
                  <a:cubicBezTo>
                    <a:pt x="633349" y="812419"/>
                    <a:pt x="812292" y="633349"/>
                    <a:pt x="812292" y="412623"/>
                  </a:cubicBezTo>
                  <a:cubicBezTo>
                    <a:pt x="812292" y="410210"/>
                    <a:pt x="813689" y="408051"/>
                    <a:pt x="815848" y="406908"/>
                  </a:cubicBezTo>
                  <a:lnTo>
                    <a:pt x="818642" y="412623"/>
                  </a:lnTo>
                  <a:lnTo>
                    <a:pt x="812292" y="412623"/>
                  </a:lnTo>
                  <a:cubicBezTo>
                    <a:pt x="812419" y="191770"/>
                    <a:pt x="633349" y="12700"/>
                    <a:pt x="412496" y="12700"/>
                  </a:cubicBezTo>
                  <a:cubicBezTo>
                    <a:pt x="411353" y="12700"/>
                    <a:pt x="410083" y="12319"/>
                    <a:pt x="409067" y="11684"/>
                  </a:cubicBezTo>
                  <a:lnTo>
                    <a:pt x="412496" y="6350"/>
                  </a:lnTo>
                  <a:lnTo>
                    <a:pt x="412496" y="12700"/>
                  </a:lnTo>
                  <a:cubicBezTo>
                    <a:pt x="191770" y="12700"/>
                    <a:pt x="12700" y="191770"/>
                    <a:pt x="12700" y="412496"/>
                  </a:cubicBezTo>
                  <a:close/>
                </a:path>
              </a:pathLst>
            </a:custGeom>
            <a:solidFill>
              <a:srgbClr val="BACFDD"/>
            </a:solidFill>
          </p:spPr>
        </p:sp>
      </p:grpSp>
      <p:sp>
        <p:nvSpPr>
          <p:cNvPr name="TextBox 15" id="15"/>
          <p:cNvSpPr txBox="true"/>
          <p:nvPr/>
        </p:nvSpPr>
        <p:spPr>
          <a:xfrm rot="0">
            <a:off x="10193239" y="6144220"/>
            <a:ext cx="3563391" cy="473869"/>
          </a:xfrm>
          <a:prstGeom prst="rect">
            <a:avLst/>
          </a:prstGeom>
        </p:spPr>
        <p:txBody>
          <a:bodyPr anchor="t" rtlCol="false" tIns="0" lIns="0" bIns="0" rIns="0">
            <a:spAutoFit/>
          </a:bodyPr>
          <a:lstStyle/>
          <a:p>
            <a:pPr algn="l">
              <a:lnSpc>
                <a:spcPts val="3500"/>
              </a:lnSpc>
            </a:pPr>
            <a:r>
              <a:rPr lang="en-US" sz="2750" b="true">
                <a:solidFill>
                  <a:srgbClr val="384653"/>
                </a:solidFill>
                <a:latin typeface="Barlow Bold"/>
                <a:ea typeface="Barlow Bold"/>
                <a:cs typeface="Barlow Bold"/>
                <a:sym typeface="Barlow Bold"/>
              </a:rPr>
              <a:t>Job Postings</a:t>
            </a:r>
          </a:p>
        </p:txBody>
      </p:sp>
      <p:sp>
        <p:nvSpPr>
          <p:cNvPr name="TextBox 16" id="16"/>
          <p:cNvSpPr txBox="true"/>
          <p:nvPr/>
        </p:nvSpPr>
        <p:spPr>
          <a:xfrm rot="0">
            <a:off x="10193239" y="6704260"/>
            <a:ext cx="7146875" cy="509588"/>
          </a:xfrm>
          <a:prstGeom prst="rect">
            <a:avLst/>
          </a:prstGeom>
        </p:spPr>
        <p:txBody>
          <a:bodyPr anchor="t" rtlCol="false" tIns="0" lIns="0" bIns="0" rIns="0">
            <a:spAutoFit/>
          </a:bodyPr>
          <a:lstStyle/>
          <a:p>
            <a:pPr algn="l">
              <a:lnSpc>
                <a:spcPts val="3374"/>
              </a:lnSpc>
            </a:pPr>
            <a:r>
              <a:rPr lang="en-US" sz="2125">
                <a:solidFill>
                  <a:srgbClr val="384653"/>
                </a:solidFill>
                <a:latin typeface="Montserrat"/>
                <a:ea typeface="Montserrat"/>
                <a:cs typeface="Montserrat"/>
                <a:sym typeface="Montserrat"/>
              </a:rPr>
              <a:t>Advanced filters, mobile-responsive design</a:t>
            </a:r>
          </a:p>
        </p:txBody>
      </p:sp>
      <p:grpSp>
        <p:nvGrpSpPr>
          <p:cNvPr name="Group 17" id="17"/>
          <p:cNvGrpSpPr/>
          <p:nvPr/>
        </p:nvGrpSpPr>
        <p:grpSpPr>
          <a:xfrm rot="0">
            <a:off x="943124" y="7750671"/>
            <a:ext cx="618828" cy="618828"/>
            <a:chOff x="0" y="0"/>
            <a:chExt cx="825103" cy="825103"/>
          </a:xfrm>
        </p:grpSpPr>
        <p:sp>
          <p:nvSpPr>
            <p:cNvPr name="Freeform 18" id="18"/>
            <p:cNvSpPr/>
            <p:nvPr/>
          </p:nvSpPr>
          <p:spPr>
            <a:xfrm flipH="false" flipV="false" rot="0">
              <a:off x="6350" y="6350"/>
              <a:ext cx="812419" cy="812419"/>
            </a:xfrm>
            <a:custGeom>
              <a:avLst/>
              <a:gdLst/>
              <a:ahLst/>
              <a:cxnLst/>
              <a:rect r="r" b="b" t="t" l="l"/>
              <a:pathLst>
                <a:path h="812419" w="812419">
                  <a:moveTo>
                    <a:pt x="0" y="406146"/>
                  </a:moveTo>
                  <a:cubicBezTo>
                    <a:pt x="0" y="181864"/>
                    <a:pt x="181864" y="0"/>
                    <a:pt x="406146" y="0"/>
                  </a:cubicBezTo>
                  <a:cubicBezTo>
                    <a:pt x="630428" y="0"/>
                    <a:pt x="812419" y="181864"/>
                    <a:pt x="812419" y="406146"/>
                  </a:cubicBezTo>
                  <a:cubicBezTo>
                    <a:pt x="812419" y="630428"/>
                    <a:pt x="630555" y="812419"/>
                    <a:pt x="406146" y="812419"/>
                  </a:cubicBezTo>
                  <a:cubicBezTo>
                    <a:pt x="181737" y="812419"/>
                    <a:pt x="0" y="630555"/>
                    <a:pt x="0" y="406146"/>
                  </a:cubicBezTo>
                  <a:close/>
                </a:path>
              </a:pathLst>
            </a:custGeom>
            <a:solidFill>
              <a:srgbClr val="D4E9F7"/>
            </a:solidFill>
          </p:spPr>
        </p:sp>
        <p:sp>
          <p:nvSpPr>
            <p:cNvPr name="Freeform 19" id="19"/>
            <p:cNvSpPr/>
            <p:nvPr/>
          </p:nvSpPr>
          <p:spPr>
            <a:xfrm flipH="false" flipV="false" rot="0">
              <a:off x="0" y="0"/>
              <a:ext cx="825119" cy="825119"/>
            </a:xfrm>
            <a:custGeom>
              <a:avLst/>
              <a:gdLst/>
              <a:ahLst/>
              <a:cxnLst/>
              <a:rect r="r" b="b" t="t" l="l"/>
              <a:pathLst>
                <a:path h="825119" w="825119">
                  <a:moveTo>
                    <a:pt x="0" y="412496"/>
                  </a:moveTo>
                  <a:cubicBezTo>
                    <a:pt x="0" y="184658"/>
                    <a:pt x="184658" y="0"/>
                    <a:pt x="412496" y="0"/>
                  </a:cubicBezTo>
                  <a:cubicBezTo>
                    <a:pt x="413639" y="0"/>
                    <a:pt x="414909" y="381"/>
                    <a:pt x="415925" y="1016"/>
                  </a:cubicBezTo>
                  <a:lnTo>
                    <a:pt x="412496" y="6350"/>
                  </a:lnTo>
                  <a:lnTo>
                    <a:pt x="412496" y="0"/>
                  </a:lnTo>
                  <a:lnTo>
                    <a:pt x="412496" y="6350"/>
                  </a:lnTo>
                  <a:lnTo>
                    <a:pt x="412496" y="0"/>
                  </a:lnTo>
                  <a:cubicBezTo>
                    <a:pt x="640334" y="0"/>
                    <a:pt x="825119" y="184658"/>
                    <a:pt x="825119" y="412496"/>
                  </a:cubicBezTo>
                  <a:cubicBezTo>
                    <a:pt x="825119" y="414909"/>
                    <a:pt x="823722" y="417068"/>
                    <a:pt x="821563" y="418211"/>
                  </a:cubicBezTo>
                  <a:lnTo>
                    <a:pt x="818769" y="412496"/>
                  </a:lnTo>
                  <a:lnTo>
                    <a:pt x="825119" y="412496"/>
                  </a:lnTo>
                  <a:cubicBezTo>
                    <a:pt x="825119" y="640334"/>
                    <a:pt x="640461" y="824992"/>
                    <a:pt x="412623" y="824992"/>
                  </a:cubicBezTo>
                  <a:lnTo>
                    <a:pt x="412623" y="818642"/>
                  </a:lnTo>
                  <a:lnTo>
                    <a:pt x="412623" y="812292"/>
                  </a:lnTo>
                  <a:lnTo>
                    <a:pt x="412623" y="818642"/>
                  </a:lnTo>
                  <a:lnTo>
                    <a:pt x="412623" y="824992"/>
                  </a:lnTo>
                  <a:cubicBezTo>
                    <a:pt x="184658" y="825119"/>
                    <a:pt x="0" y="640334"/>
                    <a:pt x="0" y="412496"/>
                  </a:cubicBezTo>
                  <a:lnTo>
                    <a:pt x="6350" y="412496"/>
                  </a:lnTo>
                  <a:lnTo>
                    <a:pt x="0" y="412496"/>
                  </a:lnTo>
                  <a:moveTo>
                    <a:pt x="12700" y="412496"/>
                  </a:moveTo>
                  <a:lnTo>
                    <a:pt x="6350" y="412496"/>
                  </a:lnTo>
                  <a:lnTo>
                    <a:pt x="12700" y="412496"/>
                  </a:lnTo>
                  <a:cubicBezTo>
                    <a:pt x="12700" y="633349"/>
                    <a:pt x="191770" y="812419"/>
                    <a:pt x="412496" y="812419"/>
                  </a:cubicBezTo>
                  <a:cubicBezTo>
                    <a:pt x="416052" y="812419"/>
                    <a:pt x="418846" y="815213"/>
                    <a:pt x="418846" y="818769"/>
                  </a:cubicBezTo>
                  <a:cubicBezTo>
                    <a:pt x="418846" y="822325"/>
                    <a:pt x="416052" y="825119"/>
                    <a:pt x="412496" y="825119"/>
                  </a:cubicBezTo>
                  <a:cubicBezTo>
                    <a:pt x="408940" y="825119"/>
                    <a:pt x="406146" y="822325"/>
                    <a:pt x="406146" y="818769"/>
                  </a:cubicBezTo>
                  <a:cubicBezTo>
                    <a:pt x="406146" y="815213"/>
                    <a:pt x="408940" y="812419"/>
                    <a:pt x="412496" y="812419"/>
                  </a:cubicBezTo>
                  <a:cubicBezTo>
                    <a:pt x="633349" y="812419"/>
                    <a:pt x="812292" y="633349"/>
                    <a:pt x="812292" y="412623"/>
                  </a:cubicBezTo>
                  <a:cubicBezTo>
                    <a:pt x="812292" y="410210"/>
                    <a:pt x="813689" y="408051"/>
                    <a:pt x="815848" y="406908"/>
                  </a:cubicBezTo>
                  <a:lnTo>
                    <a:pt x="818642" y="412623"/>
                  </a:lnTo>
                  <a:lnTo>
                    <a:pt x="812292" y="412623"/>
                  </a:lnTo>
                  <a:cubicBezTo>
                    <a:pt x="812419" y="191770"/>
                    <a:pt x="633349" y="12700"/>
                    <a:pt x="412496" y="12700"/>
                  </a:cubicBezTo>
                  <a:cubicBezTo>
                    <a:pt x="411353" y="12700"/>
                    <a:pt x="410083" y="12319"/>
                    <a:pt x="409067" y="11684"/>
                  </a:cubicBezTo>
                  <a:lnTo>
                    <a:pt x="412496" y="6350"/>
                  </a:lnTo>
                  <a:lnTo>
                    <a:pt x="412496" y="12700"/>
                  </a:lnTo>
                  <a:cubicBezTo>
                    <a:pt x="191770" y="12700"/>
                    <a:pt x="12700" y="191770"/>
                    <a:pt x="12700" y="412496"/>
                  </a:cubicBezTo>
                  <a:close/>
                </a:path>
              </a:pathLst>
            </a:custGeom>
            <a:solidFill>
              <a:srgbClr val="BACFDD"/>
            </a:solidFill>
          </p:spPr>
        </p:sp>
      </p:grpSp>
      <p:sp>
        <p:nvSpPr>
          <p:cNvPr name="TextBox 20" id="20"/>
          <p:cNvSpPr txBox="true"/>
          <p:nvPr/>
        </p:nvSpPr>
        <p:spPr>
          <a:xfrm rot="0">
            <a:off x="1827907" y="7819876"/>
            <a:ext cx="3563391" cy="473869"/>
          </a:xfrm>
          <a:prstGeom prst="rect">
            <a:avLst/>
          </a:prstGeom>
        </p:spPr>
        <p:txBody>
          <a:bodyPr anchor="t" rtlCol="false" tIns="0" lIns="0" bIns="0" rIns="0">
            <a:spAutoFit/>
          </a:bodyPr>
          <a:lstStyle/>
          <a:p>
            <a:pPr algn="l">
              <a:lnSpc>
                <a:spcPts val="3500"/>
              </a:lnSpc>
            </a:pPr>
            <a:r>
              <a:rPr lang="en-US" sz="2750" b="true">
                <a:solidFill>
                  <a:srgbClr val="384653"/>
                </a:solidFill>
                <a:latin typeface="Barlow Bold"/>
                <a:ea typeface="Barlow Bold"/>
                <a:cs typeface="Barlow Bold"/>
                <a:sym typeface="Barlow Bold"/>
              </a:rPr>
              <a:t>Application Tracking</a:t>
            </a:r>
          </a:p>
        </p:txBody>
      </p:sp>
      <p:sp>
        <p:nvSpPr>
          <p:cNvPr name="TextBox 21" id="21"/>
          <p:cNvSpPr txBox="true"/>
          <p:nvPr/>
        </p:nvSpPr>
        <p:spPr>
          <a:xfrm rot="0">
            <a:off x="1827907" y="8379916"/>
            <a:ext cx="7146875" cy="509588"/>
          </a:xfrm>
          <a:prstGeom prst="rect">
            <a:avLst/>
          </a:prstGeom>
        </p:spPr>
        <p:txBody>
          <a:bodyPr anchor="t" rtlCol="false" tIns="0" lIns="0" bIns="0" rIns="0">
            <a:spAutoFit/>
          </a:bodyPr>
          <a:lstStyle/>
          <a:p>
            <a:pPr algn="l">
              <a:lnSpc>
                <a:spcPts val="3374"/>
              </a:lnSpc>
            </a:pPr>
            <a:r>
              <a:rPr lang="en-US" sz="2125">
                <a:solidFill>
                  <a:srgbClr val="384653"/>
                </a:solidFill>
                <a:latin typeface="Montserrat"/>
                <a:ea typeface="Montserrat"/>
                <a:cs typeface="Montserrat"/>
                <a:sym typeface="Montserrat"/>
              </a:rPr>
              <a:t>Real-time status updates for candidates</a:t>
            </a:r>
          </a:p>
        </p:txBody>
      </p:sp>
      <p:grpSp>
        <p:nvGrpSpPr>
          <p:cNvPr name="Group 22" id="22"/>
          <p:cNvGrpSpPr/>
          <p:nvPr/>
        </p:nvGrpSpPr>
        <p:grpSpPr>
          <a:xfrm rot="0">
            <a:off x="9308455" y="7750671"/>
            <a:ext cx="618827" cy="618828"/>
            <a:chOff x="0" y="0"/>
            <a:chExt cx="825103" cy="825103"/>
          </a:xfrm>
        </p:grpSpPr>
        <p:sp>
          <p:nvSpPr>
            <p:cNvPr name="Freeform 23" id="23"/>
            <p:cNvSpPr/>
            <p:nvPr/>
          </p:nvSpPr>
          <p:spPr>
            <a:xfrm flipH="false" flipV="false" rot="0">
              <a:off x="6350" y="6350"/>
              <a:ext cx="812419" cy="812419"/>
            </a:xfrm>
            <a:custGeom>
              <a:avLst/>
              <a:gdLst/>
              <a:ahLst/>
              <a:cxnLst/>
              <a:rect r="r" b="b" t="t" l="l"/>
              <a:pathLst>
                <a:path h="812419" w="812419">
                  <a:moveTo>
                    <a:pt x="0" y="406146"/>
                  </a:moveTo>
                  <a:cubicBezTo>
                    <a:pt x="0" y="181864"/>
                    <a:pt x="181864" y="0"/>
                    <a:pt x="406146" y="0"/>
                  </a:cubicBezTo>
                  <a:cubicBezTo>
                    <a:pt x="630428" y="0"/>
                    <a:pt x="812419" y="181864"/>
                    <a:pt x="812419" y="406146"/>
                  </a:cubicBezTo>
                  <a:cubicBezTo>
                    <a:pt x="812419" y="630428"/>
                    <a:pt x="630555" y="812419"/>
                    <a:pt x="406146" y="812419"/>
                  </a:cubicBezTo>
                  <a:cubicBezTo>
                    <a:pt x="181737" y="812419"/>
                    <a:pt x="0" y="630555"/>
                    <a:pt x="0" y="406146"/>
                  </a:cubicBezTo>
                  <a:close/>
                </a:path>
              </a:pathLst>
            </a:custGeom>
            <a:solidFill>
              <a:srgbClr val="D4E9F7"/>
            </a:solidFill>
          </p:spPr>
        </p:sp>
        <p:sp>
          <p:nvSpPr>
            <p:cNvPr name="Freeform 24" id="24"/>
            <p:cNvSpPr/>
            <p:nvPr/>
          </p:nvSpPr>
          <p:spPr>
            <a:xfrm flipH="false" flipV="false" rot="0">
              <a:off x="0" y="0"/>
              <a:ext cx="825119" cy="825119"/>
            </a:xfrm>
            <a:custGeom>
              <a:avLst/>
              <a:gdLst/>
              <a:ahLst/>
              <a:cxnLst/>
              <a:rect r="r" b="b" t="t" l="l"/>
              <a:pathLst>
                <a:path h="825119" w="825119">
                  <a:moveTo>
                    <a:pt x="0" y="412496"/>
                  </a:moveTo>
                  <a:cubicBezTo>
                    <a:pt x="0" y="184658"/>
                    <a:pt x="184658" y="0"/>
                    <a:pt x="412496" y="0"/>
                  </a:cubicBezTo>
                  <a:cubicBezTo>
                    <a:pt x="413639" y="0"/>
                    <a:pt x="414909" y="381"/>
                    <a:pt x="415925" y="1016"/>
                  </a:cubicBezTo>
                  <a:lnTo>
                    <a:pt x="412496" y="6350"/>
                  </a:lnTo>
                  <a:lnTo>
                    <a:pt x="412496" y="0"/>
                  </a:lnTo>
                  <a:lnTo>
                    <a:pt x="412496" y="6350"/>
                  </a:lnTo>
                  <a:lnTo>
                    <a:pt x="412496" y="0"/>
                  </a:lnTo>
                  <a:cubicBezTo>
                    <a:pt x="640334" y="0"/>
                    <a:pt x="825119" y="184658"/>
                    <a:pt x="825119" y="412496"/>
                  </a:cubicBezTo>
                  <a:cubicBezTo>
                    <a:pt x="825119" y="414909"/>
                    <a:pt x="823722" y="417068"/>
                    <a:pt x="821563" y="418211"/>
                  </a:cubicBezTo>
                  <a:lnTo>
                    <a:pt x="818769" y="412496"/>
                  </a:lnTo>
                  <a:lnTo>
                    <a:pt x="825119" y="412496"/>
                  </a:lnTo>
                  <a:cubicBezTo>
                    <a:pt x="825119" y="640334"/>
                    <a:pt x="640461" y="824992"/>
                    <a:pt x="412623" y="824992"/>
                  </a:cubicBezTo>
                  <a:lnTo>
                    <a:pt x="412623" y="818642"/>
                  </a:lnTo>
                  <a:lnTo>
                    <a:pt x="412623" y="812292"/>
                  </a:lnTo>
                  <a:lnTo>
                    <a:pt x="412623" y="818642"/>
                  </a:lnTo>
                  <a:lnTo>
                    <a:pt x="412623" y="824992"/>
                  </a:lnTo>
                  <a:cubicBezTo>
                    <a:pt x="184658" y="825119"/>
                    <a:pt x="0" y="640334"/>
                    <a:pt x="0" y="412496"/>
                  </a:cubicBezTo>
                  <a:lnTo>
                    <a:pt x="6350" y="412496"/>
                  </a:lnTo>
                  <a:lnTo>
                    <a:pt x="0" y="412496"/>
                  </a:lnTo>
                  <a:moveTo>
                    <a:pt x="12700" y="412496"/>
                  </a:moveTo>
                  <a:lnTo>
                    <a:pt x="6350" y="412496"/>
                  </a:lnTo>
                  <a:lnTo>
                    <a:pt x="12700" y="412496"/>
                  </a:lnTo>
                  <a:cubicBezTo>
                    <a:pt x="12700" y="633349"/>
                    <a:pt x="191770" y="812419"/>
                    <a:pt x="412496" y="812419"/>
                  </a:cubicBezTo>
                  <a:cubicBezTo>
                    <a:pt x="416052" y="812419"/>
                    <a:pt x="418846" y="815213"/>
                    <a:pt x="418846" y="818769"/>
                  </a:cubicBezTo>
                  <a:cubicBezTo>
                    <a:pt x="418846" y="822325"/>
                    <a:pt x="416052" y="825119"/>
                    <a:pt x="412496" y="825119"/>
                  </a:cubicBezTo>
                  <a:cubicBezTo>
                    <a:pt x="408940" y="825119"/>
                    <a:pt x="406146" y="822325"/>
                    <a:pt x="406146" y="818769"/>
                  </a:cubicBezTo>
                  <a:cubicBezTo>
                    <a:pt x="406146" y="815213"/>
                    <a:pt x="408940" y="812419"/>
                    <a:pt x="412496" y="812419"/>
                  </a:cubicBezTo>
                  <a:cubicBezTo>
                    <a:pt x="633349" y="812419"/>
                    <a:pt x="812292" y="633349"/>
                    <a:pt x="812292" y="412623"/>
                  </a:cubicBezTo>
                  <a:cubicBezTo>
                    <a:pt x="812292" y="410210"/>
                    <a:pt x="813689" y="408051"/>
                    <a:pt x="815848" y="406908"/>
                  </a:cubicBezTo>
                  <a:lnTo>
                    <a:pt x="818642" y="412623"/>
                  </a:lnTo>
                  <a:lnTo>
                    <a:pt x="812292" y="412623"/>
                  </a:lnTo>
                  <a:cubicBezTo>
                    <a:pt x="812419" y="191770"/>
                    <a:pt x="633349" y="12700"/>
                    <a:pt x="412496" y="12700"/>
                  </a:cubicBezTo>
                  <a:cubicBezTo>
                    <a:pt x="411353" y="12700"/>
                    <a:pt x="410083" y="12319"/>
                    <a:pt x="409067" y="11684"/>
                  </a:cubicBezTo>
                  <a:lnTo>
                    <a:pt x="412496" y="6350"/>
                  </a:lnTo>
                  <a:lnTo>
                    <a:pt x="412496" y="12700"/>
                  </a:lnTo>
                  <a:cubicBezTo>
                    <a:pt x="191770" y="12700"/>
                    <a:pt x="12700" y="191770"/>
                    <a:pt x="12700" y="412496"/>
                  </a:cubicBezTo>
                  <a:close/>
                </a:path>
              </a:pathLst>
            </a:custGeom>
            <a:solidFill>
              <a:srgbClr val="BACFDD"/>
            </a:solidFill>
          </p:spPr>
        </p:sp>
      </p:grpSp>
      <p:sp>
        <p:nvSpPr>
          <p:cNvPr name="TextBox 25" id="25"/>
          <p:cNvSpPr txBox="true"/>
          <p:nvPr/>
        </p:nvSpPr>
        <p:spPr>
          <a:xfrm rot="0">
            <a:off x="10193239" y="7819876"/>
            <a:ext cx="3563391" cy="473869"/>
          </a:xfrm>
          <a:prstGeom prst="rect">
            <a:avLst/>
          </a:prstGeom>
        </p:spPr>
        <p:txBody>
          <a:bodyPr anchor="t" rtlCol="false" tIns="0" lIns="0" bIns="0" rIns="0">
            <a:spAutoFit/>
          </a:bodyPr>
          <a:lstStyle/>
          <a:p>
            <a:pPr algn="l">
              <a:lnSpc>
                <a:spcPts val="3500"/>
              </a:lnSpc>
            </a:pPr>
            <a:r>
              <a:rPr lang="en-US" sz="2750" b="true">
                <a:solidFill>
                  <a:srgbClr val="384653"/>
                </a:solidFill>
                <a:latin typeface="Barlow Bold"/>
                <a:ea typeface="Barlow Bold"/>
                <a:cs typeface="Barlow Bold"/>
                <a:sym typeface="Barlow Bold"/>
              </a:rPr>
              <a:t>Employer Dashboard</a:t>
            </a:r>
          </a:p>
        </p:txBody>
      </p:sp>
      <p:sp>
        <p:nvSpPr>
          <p:cNvPr name="TextBox 26" id="26"/>
          <p:cNvSpPr txBox="true"/>
          <p:nvPr/>
        </p:nvSpPr>
        <p:spPr>
          <a:xfrm rot="0">
            <a:off x="10193239" y="8379916"/>
            <a:ext cx="7146875" cy="509588"/>
          </a:xfrm>
          <a:prstGeom prst="rect">
            <a:avLst/>
          </a:prstGeom>
        </p:spPr>
        <p:txBody>
          <a:bodyPr anchor="t" rtlCol="false" tIns="0" lIns="0" bIns="0" rIns="0">
            <a:spAutoFit/>
          </a:bodyPr>
          <a:lstStyle/>
          <a:p>
            <a:pPr algn="l">
              <a:lnSpc>
                <a:spcPts val="3374"/>
              </a:lnSpc>
            </a:pPr>
            <a:r>
              <a:rPr lang="en-US" sz="2125">
                <a:solidFill>
                  <a:srgbClr val="384653"/>
                </a:solidFill>
                <a:latin typeface="Montserrat"/>
                <a:ea typeface="Montserrat"/>
                <a:cs typeface="Montserrat"/>
                <a:sym typeface="Montserrat"/>
              </a:rPr>
              <a:t>Analytics and automated notifications</a:t>
            </a:r>
          </a:p>
        </p:txBody>
      </p:sp>
      <p:sp>
        <p:nvSpPr>
          <p:cNvPr name="TextBox 27" id="27"/>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5</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descr="preencoded.png"/>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0" r="0" b="0"/>
            </a:stretch>
          </a:blipFill>
        </p:spPr>
      </p:sp>
      <p:grpSp>
        <p:nvGrpSpPr>
          <p:cNvPr name="Group 3" id="3"/>
          <p:cNvGrpSpPr/>
          <p:nvPr/>
        </p:nvGrpSpPr>
        <p:grpSpPr>
          <a:xfrm rot="0">
            <a:off x="0" y="0"/>
            <a:ext cx="18288000" cy="10287000"/>
            <a:chOff x="0" y="0"/>
            <a:chExt cx="24384000" cy="13716000"/>
          </a:xfrm>
        </p:grpSpPr>
        <p:sp>
          <p:nvSpPr>
            <p:cNvPr name="Freeform 4" id="4"/>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FFF"/>
            </a:solidFill>
          </p:spPr>
        </p:sp>
      </p:grpSp>
      <p:sp>
        <p:nvSpPr>
          <p:cNvPr name="TextBox 5" id="5"/>
          <p:cNvSpPr txBox="true"/>
          <p:nvPr/>
        </p:nvSpPr>
        <p:spPr>
          <a:xfrm rot="0">
            <a:off x="947886" y="3408312"/>
            <a:ext cx="14861827" cy="928985"/>
          </a:xfrm>
          <a:prstGeom prst="rect">
            <a:avLst/>
          </a:prstGeom>
        </p:spPr>
        <p:txBody>
          <a:bodyPr anchor="t" rtlCol="false" tIns="0" lIns="0" bIns="0" rIns="0">
            <a:spAutoFit/>
          </a:bodyPr>
          <a:lstStyle/>
          <a:p>
            <a:pPr algn="l">
              <a:lnSpc>
                <a:spcPts val="7000"/>
              </a:lnSpc>
            </a:pPr>
            <a:r>
              <a:rPr lang="en-US" sz="5562" b="true">
                <a:solidFill>
                  <a:srgbClr val="2E3C4E"/>
                </a:solidFill>
                <a:latin typeface="Barlow Bold"/>
                <a:ea typeface="Barlow Bold"/>
                <a:cs typeface="Barlow Bold"/>
                <a:sym typeface="Barlow Bold"/>
              </a:rPr>
              <a:t>Newly Added Features: Enhancing the Platform</a:t>
            </a:r>
          </a:p>
        </p:txBody>
      </p:sp>
      <p:sp>
        <p:nvSpPr>
          <p:cNvPr name="TextBox 6" id="6"/>
          <p:cNvSpPr txBox="true"/>
          <p:nvPr/>
        </p:nvSpPr>
        <p:spPr>
          <a:xfrm rot="0">
            <a:off x="947886" y="4985594"/>
            <a:ext cx="3563391" cy="612140"/>
          </a:xfrm>
          <a:prstGeom prst="rect">
            <a:avLst/>
          </a:prstGeom>
        </p:spPr>
        <p:txBody>
          <a:bodyPr anchor="t" rtlCol="false" tIns="0" lIns="0" bIns="0" rIns="0">
            <a:spAutoFit/>
          </a:bodyPr>
          <a:lstStyle/>
          <a:p>
            <a:pPr algn="l">
              <a:lnSpc>
                <a:spcPts val="4899"/>
              </a:lnSpc>
            </a:pPr>
            <a:r>
              <a:rPr lang="en-US" sz="3849" b="true">
                <a:solidFill>
                  <a:srgbClr val="2E3C4E"/>
                </a:solidFill>
                <a:latin typeface="Barlow Bold"/>
                <a:ea typeface="Barlow Bold"/>
                <a:cs typeface="Barlow Bold"/>
                <a:sym typeface="Barlow Bold"/>
              </a:rPr>
              <a:t>Job save</a:t>
            </a:r>
          </a:p>
        </p:txBody>
      </p:sp>
      <p:sp>
        <p:nvSpPr>
          <p:cNvPr name="TextBox 7" id="7"/>
          <p:cNvSpPr txBox="true"/>
          <p:nvPr/>
        </p:nvSpPr>
        <p:spPr>
          <a:xfrm rot="0">
            <a:off x="6241108" y="4985594"/>
            <a:ext cx="3924300" cy="575887"/>
          </a:xfrm>
          <a:prstGeom prst="rect">
            <a:avLst/>
          </a:prstGeom>
        </p:spPr>
        <p:txBody>
          <a:bodyPr anchor="t" rtlCol="false" tIns="0" lIns="0" bIns="0" rIns="0">
            <a:spAutoFit/>
          </a:bodyPr>
          <a:lstStyle/>
          <a:p>
            <a:pPr algn="l">
              <a:lnSpc>
                <a:spcPts val="4645"/>
              </a:lnSpc>
            </a:pPr>
            <a:r>
              <a:rPr lang="en-US" sz="3649" b="true">
                <a:solidFill>
                  <a:srgbClr val="2E3C4E"/>
                </a:solidFill>
                <a:latin typeface="Barlow Bold"/>
                <a:ea typeface="Barlow Bold"/>
                <a:cs typeface="Barlow Bold"/>
                <a:sym typeface="Barlow Bold"/>
              </a:rPr>
              <a:t>send job</a:t>
            </a:r>
          </a:p>
        </p:txBody>
      </p:sp>
      <p:sp>
        <p:nvSpPr>
          <p:cNvPr name="TextBox 8" id="8"/>
          <p:cNvSpPr txBox="true"/>
          <p:nvPr/>
        </p:nvSpPr>
        <p:spPr>
          <a:xfrm rot="0">
            <a:off x="6241108" y="5653980"/>
            <a:ext cx="5022949" cy="390525"/>
          </a:xfrm>
          <a:prstGeom prst="rect">
            <a:avLst/>
          </a:prstGeom>
        </p:spPr>
        <p:txBody>
          <a:bodyPr anchor="t" rtlCol="false" tIns="0" lIns="0" bIns="0" rIns="0">
            <a:spAutoFit/>
          </a:bodyPr>
          <a:lstStyle/>
          <a:p>
            <a:pPr algn="l">
              <a:lnSpc>
                <a:spcPts val="3374"/>
              </a:lnSpc>
            </a:pPr>
            <a:r>
              <a:rPr lang="en-US" sz="2125">
                <a:solidFill>
                  <a:srgbClr val="384653"/>
                </a:solidFill>
                <a:latin typeface="Montserrat"/>
                <a:ea typeface="Montserrat"/>
                <a:cs typeface="Montserrat"/>
                <a:sym typeface="Montserrat"/>
              </a:rPr>
              <a:t>user can send a job </a:t>
            </a:r>
          </a:p>
        </p:txBody>
      </p:sp>
      <p:sp>
        <p:nvSpPr>
          <p:cNvPr name="TextBox 9" id="9"/>
          <p:cNvSpPr txBox="true"/>
          <p:nvPr/>
        </p:nvSpPr>
        <p:spPr>
          <a:xfrm rot="0">
            <a:off x="11505754" y="4985594"/>
            <a:ext cx="4543265" cy="575887"/>
          </a:xfrm>
          <a:prstGeom prst="rect">
            <a:avLst/>
          </a:prstGeom>
        </p:spPr>
        <p:txBody>
          <a:bodyPr anchor="t" rtlCol="false" tIns="0" lIns="0" bIns="0" rIns="0">
            <a:spAutoFit/>
          </a:bodyPr>
          <a:lstStyle/>
          <a:p>
            <a:pPr algn="l">
              <a:lnSpc>
                <a:spcPts val="4645"/>
              </a:lnSpc>
            </a:pPr>
            <a:r>
              <a:rPr lang="en-US" sz="3649" b="true">
                <a:solidFill>
                  <a:srgbClr val="2E3C4E"/>
                </a:solidFill>
                <a:latin typeface="Barlow Bold"/>
                <a:ea typeface="Barlow Bold"/>
                <a:cs typeface="Barlow Bold"/>
                <a:sym typeface="Barlow Bold"/>
              </a:rPr>
              <a:t>R</a:t>
            </a:r>
            <a:r>
              <a:rPr lang="en-US" sz="3649" b="true">
                <a:solidFill>
                  <a:srgbClr val="2E3C4E"/>
                </a:solidFill>
                <a:latin typeface="Barlow Bold"/>
                <a:ea typeface="Barlow Bold"/>
                <a:cs typeface="Barlow Bold"/>
                <a:sym typeface="Barlow Bold"/>
              </a:rPr>
              <a:t>esume Upload:</a:t>
            </a:r>
          </a:p>
        </p:txBody>
      </p:sp>
      <p:sp>
        <p:nvSpPr>
          <p:cNvPr name="TextBox 10" id="10"/>
          <p:cNvSpPr txBox="true"/>
          <p:nvPr/>
        </p:nvSpPr>
        <p:spPr>
          <a:xfrm rot="0">
            <a:off x="11530756" y="5558562"/>
            <a:ext cx="5965924" cy="1228725"/>
          </a:xfrm>
          <a:prstGeom prst="rect">
            <a:avLst/>
          </a:prstGeom>
        </p:spPr>
        <p:txBody>
          <a:bodyPr anchor="t" rtlCol="false" tIns="0" lIns="0" bIns="0" rIns="0">
            <a:spAutoFit/>
          </a:bodyPr>
          <a:lstStyle/>
          <a:p>
            <a:pPr algn="l">
              <a:lnSpc>
                <a:spcPts val="3374"/>
              </a:lnSpc>
            </a:pPr>
            <a:r>
              <a:rPr lang="en-US" sz="2125">
                <a:solidFill>
                  <a:srgbClr val="384653"/>
                </a:solidFill>
                <a:latin typeface="Montserrat"/>
                <a:ea typeface="Montserrat"/>
                <a:cs typeface="Montserrat"/>
                <a:sym typeface="Montserrat"/>
              </a:rPr>
              <a:t> Job seeke</a:t>
            </a:r>
            <a:r>
              <a:rPr lang="en-US" sz="2125">
                <a:solidFill>
                  <a:srgbClr val="384653"/>
                </a:solidFill>
                <a:latin typeface="Montserrat"/>
                <a:ea typeface="Montserrat"/>
                <a:cs typeface="Montserrat"/>
                <a:sym typeface="Montserrat"/>
              </a:rPr>
              <a:t>rs can upload and manage their resumes, making it easy for employers to review qualifications.</a:t>
            </a:r>
          </a:p>
        </p:txBody>
      </p:sp>
      <p:sp>
        <p:nvSpPr>
          <p:cNvPr name="TextBox 11" id="11"/>
          <p:cNvSpPr txBox="true"/>
          <p:nvPr/>
        </p:nvSpPr>
        <p:spPr>
          <a:xfrm rot="0">
            <a:off x="947886" y="5644455"/>
            <a:ext cx="5022949" cy="423694"/>
          </a:xfrm>
          <a:prstGeom prst="rect">
            <a:avLst/>
          </a:prstGeom>
        </p:spPr>
        <p:txBody>
          <a:bodyPr anchor="t" rtlCol="false" tIns="0" lIns="0" bIns="0" rIns="0">
            <a:spAutoFit/>
          </a:bodyPr>
          <a:lstStyle/>
          <a:p>
            <a:pPr algn="l">
              <a:lnSpc>
                <a:spcPts val="3533"/>
              </a:lnSpc>
            </a:pPr>
            <a:r>
              <a:rPr lang="en-US" sz="2225">
                <a:solidFill>
                  <a:srgbClr val="384653"/>
                </a:solidFill>
                <a:latin typeface="Montserrat"/>
                <a:ea typeface="Montserrat"/>
                <a:cs typeface="Montserrat"/>
                <a:sym typeface="Montserrat"/>
              </a:rPr>
              <a:t>user can bookmark there job</a:t>
            </a:r>
          </a:p>
        </p:txBody>
      </p:sp>
      <p:sp>
        <p:nvSpPr>
          <p:cNvPr name="TextBox 12" id="12"/>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6</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028700" y="2781948"/>
            <a:ext cx="5686265" cy="801082"/>
          </a:xfrm>
          <a:prstGeom prst="rect">
            <a:avLst/>
          </a:prstGeom>
        </p:spPr>
        <p:txBody>
          <a:bodyPr anchor="t" rtlCol="false" tIns="0" lIns="0" bIns="0" rIns="0">
            <a:spAutoFit/>
          </a:bodyPr>
          <a:lstStyle/>
          <a:p>
            <a:pPr algn="l">
              <a:lnSpc>
                <a:spcPts val="6427"/>
              </a:lnSpc>
            </a:pPr>
            <a:r>
              <a:rPr lang="en-US" sz="5049" b="true">
                <a:solidFill>
                  <a:srgbClr val="2E3C4E"/>
                </a:solidFill>
                <a:latin typeface="Barlow Bold"/>
                <a:ea typeface="Barlow Bold"/>
                <a:cs typeface="Barlow Bold"/>
                <a:sym typeface="Barlow Bold"/>
              </a:rPr>
              <a:t>Conc</a:t>
            </a:r>
            <a:r>
              <a:rPr lang="en-US" sz="5049" b="true">
                <a:solidFill>
                  <a:srgbClr val="2E3C4E"/>
                </a:solidFill>
                <a:latin typeface="Barlow Bold"/>
                <a:ea typeface="Barlow Bold"/>
                <a:cs typeface="Barlow Bold"/>
                <a:sym typeface="Barlow Bold"/>
              </a:rPr>
              <a:t>lusion:</a:t>
            </a:r>
          </a:p>
        </p:txBody>
      </p:sp>
      <p:sp>
        <p:nvSpPr>
          <p:cNvPr name="TextBox 3" id="3"/>
          <p:cNvSpPr txBox="true"/>
          <p:nvPr/>
        </p:nvSpPr>
        <p:spPr>
          <a:xfrm rot="0">
            <a:off x="1048622" y="3864194"/>
            <a:ext cx="11332686" cy="3015380"/>
          </a:xfrm>
          <a:prstGeom prst="rect">
            <a:avLst/>
          </a:prstGeom>
        </p:spPr>
        <p:txBody>
          <a:bodyPr anchor="t" rtlCol="false" tIns="0" lIns="0" bIns="0" rIns="0">
            <a:spAutoFit/>
          </a:bodyPr>
          <a:lstStyle/>
          <a:p>
            <a:pPr algn="l">
              <a:lnSpc>
                <a:spcPts val="4816"/>
              </a:lnSpc>
            </a:pPr>
            <a:r>
              <a:rPr lang="en-US" sz="3784">
                <a:solidFill>
                  <a:srgbClr val="2E3C4E"/>
                </a:solidFill>
                <a:latin typeface="Barlow"/>
                <a:ea typeface="Barlow"/>
                <a:cs typeface="Barlow"/>
                <a:sym typeface="Barlow"/>
              </a:rPr>
              <a:t>Job portals have revolutionized the hiring process, providing a convenient and efficient p</a:t>
            </a:r>
            <a:r>
              <a:rPr lang="en-US" sz="3784">
                <a:solidFill>
                  <a:srgbClr val="2E3C4E"/>
                </a:solidFill>
                <a:latin typeface="Barlow"/>
                <a:ea typeface="Barlow"/>
                <a:cs typeface="Barlow"/>
                <a:sym typeface="Barlow"/>
              </a:rPr>
              <a:t>latform for job seekers and employers. By embracing technology and focusing on user experience, job portals continue to play a vital role in connecting talent with opportunities.</a:t>
            </a:r>
          </a:p>
        </p:txBody>
      </p:sp>
      <p:sp>
        <p:nvSpPr>
          <p:cNvPr name="Freeform 4" id="4" descr="preencoded.png"/>
          <p:cNvSpPr/>
          <p:nvPr/>
        </p:nvSpPr>
        <p:spPr>
          <a:xfrm flipH="false" flipV="false" rot="0">
            <a:off x="12999536" y="1691318"/>
            <a:ext cx="5455677" cy="6658667"/>
          </a:xfrm>
          <a:custGeom>
            <a:avLst/>
            <a:gdLst/>
            <a:ahLst/>
            <a:cxnLst/>
            <a:rect r="r" b="b" t="t" l="l"/>
            <a:pathLst>
              <a:path h="6658667" w="5455677">
                <a:moveTo>
                  <a:pt x="0" y="0"/>
                </a:moveTo>
                <a:lnTo>
                  <a:pt x="5455677" y="0"/>
                </a:lnTo>
                <a:lnTo>
                  <a:pt x="5455677" y="6658667"/>
                </a:lnTo>
                <a:lnTo>
                  <a:pt x="0" y="6658667"/>
                </a:lnTo>
                <a:lnTo>
                  <a:pt x="0" y="0"/>
                </a:lnTo>
                <a:close/>
              </a:path>
            </a:pathLst>
          </a:custGeom>
          <a:blipFill>
            <a:blip r:embed="rId2"/>
            <a:stretch>
              <a:fillRect l="0" t="-11935" r="-789" b="-11935"/>
            </a:stretch>
          </a:blipFill>
        </p:spPr>
      </p:sp>
      <p:sp>
        <p:nvSpPr>
          <p:cNvPr name="TextBox 5" id="5"/>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2E3C4E"/>
                </a:solidFill>
                <a:latin typeface="Canva Sans"/>
                <a:ea typeface="Canva Sans"/>
                <a:cs typeface="Canva Sans"/>
                <a:sym typeface="Canva Sans"/>
              </a:rPr>
              <a:t>7</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descr="preencoded.png"/>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0" r="0" b="0"/>
            </a:stretch>
          </a:blipFill>
        </p:spPr>
      </p:sp>
      <p:grpSp>
        <p:nvGrpSpPr>
          <p:cNvPr name="Group 3" id="3"/>
          <p:cNvGrpSpPr/>
          <p:nvPr/>
        </p:nvGrpSpPr>
        <p:grpSpPr>
          <a:xfrm rot="0">
            <a:off x="0" y="0"/>
            <a:ext cx="18288000" cy="10287000"/>
            <a:chOff x="0" y="0"/>
            <a:chExt cx="24384000" cy="13716000"/>
          </a:xfrm>
        </p:grpSpPr>
        <p:sp>
          <p:nvSpPr>
            <p:cNvPr name="Freeform 4" id="4"/>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FFF"/>
            </a:solidFill>
          </p:spPr>
        </p:sp>
      </p:grpSp>
      <p:sp>
        <p:nvSpPr>
          <p:cNvPr name="Freeform 5" id="5" descr="preencoded.png"/>
          <p:cNvSpPr/>
          <p:nvPr/>
        </p:nvSpPr>
        <p:spPr>
          <a:xfrm flipH="false" flipV="false" rot="0">
            <a:off x="0" y="0"/>
            <a:ext cx="7200900" cy="10287000"/>
          </a:xfrm>
          <a:custGeom>
            <a:avLst/>
            <a:gdLst/>
            <a:ahLst/>
            <a:cxnLst/>
            <a:rect r="r" b="b" t="t" l="l"/>
            <a:pathLst>
              <a:path h="10287000" w="7200900">
                <a:moveTo>
                  <a:pt x="0" y="0"/>
                </a:moveTo>
                <a:lnTo>
                  <a:pt x="7200900" y="0"/>
                </a:lnTo>
                <a:lnTo>
                  <a:pt x="7200900" y="10287000"/>
                </a:lnTo>
                <a:lnTo>
                  <a:pt x="0" y="10287000"/>
                </a:lnTo>
                <a:lnTo>
                  <a:pt x="0" y="0"/>
                </a:lnTo>
                <a:close/>
              </a:path>
            </a:pathLst>
          </a:custGeom>
          <a:blipFill>
            <a:blip r:embed="rId4"/>
            <a:stretch>
              <a:fillRect l="0" t="0" r="0" b="0"/>
            </a:stretch>
          </a:blipFill>
        </p:spPr>
      </p:sp>
      <p:sp>
        <p:nvSpPr>
          <p:cNvPr name="TextBox 6" id="6"/>
          <p:cNvSpPr txBox="true"/>
          <p:nvPr/>
        </p:nvSpPr>
        <p:spPr>
          <a:xfrm rot="0">
            <a:off x="7805886" y="3871169"/>
            <a:ext cx="7126933" cy="928985"/>
          </a:xfrm>
          <a:prstGeom prst="rect">
            <a:avLst/>
          </a:prstGeom>
        </p:spPr>
        <p:txBody>
          <a:bodyPr anchor="t" rtlCol="false" tIns="0" lIns="0" bIns="0" rIns="0">
            <a:spAutoFit/>
          </a:bodyPr>
          <a:lstStyle/>
          <a:p>
            <a:pPr algn="l">
              <a:lnSpc>
                <a:spcPts val="7000"/>
              </a:lnSpc>
            </a:pPr>
            <a:r>
              <a:rPr lang="en-US" sz="5562" b="true">
                <a:solidFill>
                  <a:srgbClr val="2E3C4E"/>
                </a:solidFill>
                <a:latin typeface="Barlow Bold"/>
                <a:ea typeface="Barlow Bold"/>
                <a:cs typeface="Barlow Bold"/>
                <a:sym typeface="Barlow Bold"/>
              </a:rPr>
              <a:t>Thank You</a:t>
            </a:r>
          </a:p>
        </p:txBody>
      </p:sp>
      <p:sp>
        <p:nvSpPr>
          <p:cNvPr name="TextBox 7" id="7"/>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2E3C4E"/>
                </a:solidFill>
                <a:latin typeface="Canva Sans"/>
                <a:ea typeface="Canva Sans"/>
                <a:cs typeface="Canva Sans"/>
                <a:sym typeface="Canva Sans"/>
              </a:rPr>
              <a:t>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DAGowjungno</dc:identifier>
  <dcterms:modified xsi:type="dcterms:W3CDTF">2011-08-01T06:04:30Z</dcterms:modified>
  <cp:revision>1</cp:revision>
  <dc:title>JobLink</dc:title>
</cp:coreProperties>
</file>