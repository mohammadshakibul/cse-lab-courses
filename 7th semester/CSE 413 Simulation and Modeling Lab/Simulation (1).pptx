
<file path=[Content_Types].xml><?xml version="1.0" encoding="utf-8"?>
<Types xmlns="http://schemas.openxmlformats.org/package/2006/content-types">
  <Default Extension="png" ContentType="image/png"/>
  <Default Extension="svg" ContentType="image/sv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DA11C6-17CD-4DBF-A532-5A6B11E6CA9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9AE1B8-5DDA-45AB-8E83-C00CBADE336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DD46B2-87E7-4042-AA36-4506DC5E9F0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C3FE06-4913-446E-841E-65A90EC8DBF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BD8CDD-688E-4E8C-90C3-3FBE37E337B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561928-667C-4710-B477-307A607A671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A64A84-1DB9-4961-A46E-39F252879A2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427719-0D58-4917-8A49-D1C19FB23AD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C38EC0-5ACD-4520-BE8C-E01B1803257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84FFDB-89D1-4FCC-B4E1-E1F924D76C8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7EF0DB-727D-4542-BC05-B5D2688738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2"/>
          <p:cNvSpPr/>
          <p:nvPr/>
        </p:nvSpPr>
        <p:spPr>
          <a:xfrm>
            <a:off x="1043640" y="2478240"/>
            <a:ext cx="16229520" cy="318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26008"/>
              </a:lnSpc>
              <a:tabLst>
                <a:tab pos="0" algn="l"/>
              </a:tabLst>
            </a:pPr>
            <a:r>
              <a:rPr lang="en-US" sz="18580" b="1" i="1" u="none" strike="noStrike">
                <a:solidFill>
                  <a:srgbClr val="000000"/>
                </a:solidFill>
                <a:effectLst/>
                <a:uFillTx/>
                <a:latin typeface="Cormorant Garamond Bold Italics"/>
                <a:ea typeface="Cormorant Garamond Bold Italics"/>
              </a:rPr>
              <a:t>Group Project</a:t>
            </a:r>
            <a:endParaRPr lang="en-US" sz="18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AutoShape 3"/>
          <p:cNvSpPr/>
          <p:nvPr/>
        </p:nvSpPr>
        <p:spPr>
          <a:xfrm>
            <a:off x="9158400" y="990360"/>
            <a:ext cx="8115120" cy="360"/>
          </a:xfrm>
          <a:prstGeom prst="line">
            <a:avLst/>
          </a:prstGeom>
          <a:ln w="76200">
            <a:solidFill>
              <a:srgbClr val="0F466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AutoShape 4"/>
          <p:cNvSpPr/>
          <p:nvPr/>
        </p:nvSpPr>
        <p:spPr>
          <a:xfrm>
            <a:off x="1043640" y="9296280"/>
            <a:ext cx="8114760" cy="360"/>
          </a:xfrm>
          <a:prstGeom prst="line">
            <a:avLst/>
          </a:prstGeom>
          <a:ln w="76200">
            <a:solidFill>
              <a:srgbClr val="0F466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Freeform 5"/>
          <p:cNvSpPr/>
          <p:nvPr/>
        </p:nvSpPr>
        <p:spPr>
          <a:xfrm>
            <a:off x="9618840" y="9037440"/>
            <a:ext cx="2968560" cy="441360"/>
          </a:xfrm>
          <a:custGeom>
            <a:avLst/>
            <a:gdLst>
              <a:gd name="textAreaLeft" fmla="*/ 0 w 2968560"/>
              <a:gd name="textAreaRight" fmla="*/ 2968920 w 2968560"/>
              <a:gd name="textAreaTop" fmla="*/ 0 h 441360"/>
              <a:gd name="textAreaBottom" fmla="*/ 441720 h 441360"/>
            </a:gdLst>
            <a:ahLst/>
            <a:cxnLst/>
            <a:rect l="textAreaLeft" t="textAreaTop" r="textAreaRight" b="textAreaBottom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6"/>
          <p:cNvSpPr/>
          <p:nvPr/>
        </p:nvSpPr>
        <p:spPr>
          <a:xfrm>
            <a:off x="2737440" y="5908320"/>
            <a:ext cx="12812400" cy="83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6843"/>
              </a:lnSpc>
              <a:tabLst>
                <a:tab pos="0" algn="l"/>
              </a:tabLst>
            </a:pPr>
            <a:r>
              <a:rPr lang="en-US" sz="4890" b="0" u="none" strike="noStrike">
                <a:solidFill>
                  <a:srgbClr val="000000"/>
                </a:solidFill>
                <a:effectLst/>
                <a:uFillTx/>
                <a:latin typeface="Quicksand"/>
                <a:ea typeface="Quicksand"/>
              </a:rPr>
              <a:t>House Price Estimation</a:t>
            </a:r>
            <a:endParaRPr lang="en-US" sz="48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7"/>
          <p:cNvSpPr/>
          <p:nvPr/>
        </p:nvSpPr>
        <p:spPr>
          <a:xfrm>
            <a:off x="5649840" y="7032240"/>
            <a:ext cx="6987960" cy="52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397"/>
              </a:lnSpc>
              <a:tabLst>
                <a:tab pos="0" algn="l"/>
              </a:tabLst>
            </a:pPr>
            <a:r>
              <a:rPr lang="en-US" sz="3140" b="0" u="none" strike="noStrike">
                <a:solidFill>
                  <a:srgbClr val="000000"/>
                </a:solidFill>
                <a:effectLst/>
                <a:uFillTx/>
                <a:latin typeface="Quicksand"/>
                <a:ea typeface="Quicksand"/>
              </a:rPr>
              <a:t>29 May, 2025</a:t>
            </a:r>
            <a:endParaRPr lang="en-US" sz="3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8"/>
          <p:cNvSpPr/>
          <p:nvPr/>
        </p:nvSpPr>
        <p:spPr>
          <a:xfrm>
            <a:off x="3322080" y="1967760"/>
            <a:ext cx="11643120" cy="52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397"/>
              </a:lnSpc>
              <a:tabLst>
                <a:tab pos="0" algn="l"/>
              </a:tabLst>
            </a:pPr>
            <a:r>
              <a:rPr lang="en-US" sz="3140" b="0" u="none" strike="noStrike">
                <a:solidFill>
                  <a:srgbClr val="000000"/>
                </a:solidFill>
                <a:effectLst/>
                <a:uFillTx/>
                <a:latin typeface="Quicksand"/>
                <a:ea typeface="Quicksand"/>
              </a:rPr>
              <a:t>Prepared by group 9</a:t>
            </a:r>
            <a:endParaRPr lang="en-US" sz="3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Freeform 9"/>
          <p:cNvSpPr/>
          <p:nvPr/>
        </p:nvSpPr>
        <p:spPr>
          <a:xfrm>
            <a:off x="5646600" y="807840"/>
            <a:ext cx="2968560" cy="441360"/>
          </a:xfrm>
          <a:custGeom>
            <a:avLst/>
            <a:gdLst>
              <a:gd name="textAreaLeft" fmla="*/ 0 w 2968560"/>
              <a:gd name="textAreaRight" fmla="*/ 2968920 w 2968560"/>
              <a:gd name="textAreaTop" fmla="*/ 0 h 441360"/>
              <a:gd name="textAreaBottom" fmla="*/ 441720 h 441360"/>
            </a:gdLst>
            <a:ahLst/>
            <a:cxnLst/>
            <a:rect l="textAreaLeft" t="textAreaTop" r="textAreaRight" b="textAreaBottom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1"/>
          <p:cNvGrpSpPr/>
          <p:nvPr/>
        </p:nvGrpSpPr>
        <p:grpSpPr>
          <a:xfrm>
            <a:off x="81794" y="-113651"/>
            <a:ext cx="18291008" cy="4280881"/>
            <a:chOff x="0" y="-180720"/>
            <a:chExt cx="18291008" cy="4280881"/>
          </a:xfrm>
        </p:grpSpPr>
        <p:sp>
          <p:nvSpPr>
            <p:cNvPr id="152" name="Google Shape;152;p1"/>
            <p:cNvSpPr/>
            <p:nvPr/>
          </p:nvSpPr>
          <p:spPr>
            <a:xfrm>
              <a:off x="0" y="0"/>
              <a:ext cx="18291008" cy="4100161"/>
            </a:xfrm>
            <a:custGeom>
              <a:avLst/>
              <a:gdLst/>
              <a:ahLst/>
              <a:cxnLst/>
              <a:rect l="l" t="t" r="r" b="b"/>
              <a:pathLst>
                <a:path w="4816592" h="1079700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0" y="-180720"/>
              <a:ext cx="18287700" cy="428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750" tIns="50750" rIns="50750" bIns="50750" anchor="ctr" anchorCtr="0">
              <a:noAutofit/>
            </a:bodyPr>
            <a:lstStyle/>
            <a:p>
              <a:pPr marL="0" marR="0" lvl="0" indent="0" algn="ctr" rtl="0">
                <a:lnSpc>
                  <a:spcPct val="205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4" name="Google Shape;154;p1"/>
          <p:cNvSpPr/>
          <p:nvPr/>
        </p:nvSpPr>
        <p:spPr>
          <a:xfrm>
            <a:off x="1028880" y="1425240"/>
            <a:ext cx="2806192" cy="2806192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"/>
          <p:cNvSpPr/>
          <p:nvPr/>
        </p:nvSpPr>
        <p:spPr>
          <a:xfrm>
            <a:off x="5511960" y="1375263"/>
            <a:ext cx="2791968" cy="2791968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"/>
          <p:cNvSpPr/>
          <p:nvPr/>
        </p:nvSpPr>
        <p:spPr>
          <a:xfrm>
            <a:off x="10342440" y="1320480"/>
            <a:ext cx="2777744" cy="2777744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" name="Google Shape;157;p1"/>
          <p:cNvCxnSpPr/>
          <p:nvPr/>
        </p:nvCxnSpPr>
        <p:spPr>
          <a:xfrm>
            <a:off x="5897700" y="9113155"/>
            <a:ext cx="6492300" cy="300"/>
          </a:xfrm>
          <a:prstGeom prst="straightConnector1">
            <a:avLst/>
          </a:prstGeom>
          <a:noFill/>
          <a:ln w="76200" cap="flat" cmpd="sng">
            <a:solidFill>
              <a:srgbClr val="0F466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8" name="Google Shape;158;p1"/>
          <p:cNvSpPr/>
          <p:nvPr/>
        </p:nvSpPr>
        <p:spPr>
          <a:xfrm>
            <a:off x="8303928" y="9660194"/>
            <a:ext cx="1679997" cy="249275"/>
          </a:xfrm>
          <a:custGeom>
            <a:avLst/>
            <a:gdLst/>
            <a:ahLst/>
            <a:cxnLst/>
            <a:rect l="l" t="t" r="r" b="b"/>
            <a:pathLst>
              <a:path w="1679997" h="249900" extrusionOk="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"/>
          <p:cNvSpPr/>
          <p:nvPr/>
        </p:nvSpPr>
        <p:spPr>
          <a:xfrm>
            <a:off x="14639040" y="1320480"/>
            <a:ext cx="2895600" cy="2895600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"/>
          <p:cNvSpPr/>
          <p:nvPr/>
        </p:nvSpPr>
        <p:spPr>
          <a:xfrm>
            <a:off x="940320" y="235440"/>
            <a:ext cx="9914700" cy="10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0" b="1" i="1" u="none" strike="noStrike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Team Members</a:t>
            </a:r>
            <a:endParaRPr sz="6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"/>
          <p:cNvSpPr/>
          <p:nvPr/>
        </p:nvSpPr>
        <p:spPr>
          <a:xfrm>
            <a:off x="4621320" y="4440600"/>
            <a:ext cx="4522680" cy="24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none" strike="noStrike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Mohammad </a:t>
            </a:r>
            <a:r>
              <a:rPr lang="en-US" sz="2800" b="1" u="none" strike="noStrike" dirty="0" err="1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Shakibul</a:t>
            </a:r>
            <a:r>
              <a:rPr lang="en-US" sz="2800" b="1" u="none" strike="noStrike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Hasan (2215151115)</a:t>
            </a:r>
            <a:endParaRPr sz="28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none" strike="noStrike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Batch- 51</a:t>
            </a:r>
            <a:endParaRPr sz="28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none" strike="noStrike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Section- 7C1</a:t>
            </a:r>
            <a:endParaRPr sz="28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21777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"/>
          <p:cNvSpPr/>
          <p:nvPr/>
        </p:nvSpPr>
        <p:spPr>
          <a:xfrm>
            <a:off x="9144000" y="4440600"/>
            <a:ext cx="3976184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none" strike="noStrike" dirty="0" err="1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Jarin</a:t>
            </a:r>
            <a:r>
              <a:rPr lang="en-US" sz="2800" b="1" u="none" strike="noStrike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2800" b="1" u="none" strike="noStrike" dirty="0" err="1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Jubuyer</a:t>
            </a:r>
            <a:r>
              <a:rPr lang="en-US" sz="2800" b="1" u="none" strike="noStrike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-US" sz="2800" b="1" u="none" strike="noStrike" dirty="0" err="1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Jui</a:t>
            </a:r>
            <a:r>
              <a:rPr lang="en-US" sz="2800" b="1" u="none" strike="noStrike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(2215151141)</a:t>
            </a:r>
            <a:endParaRPr sz="28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none" strike="noStrike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Batch- 51</a:t>
            </a:r>
            <a:endParaRPr sz="28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none" strike="noStrike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Section- 7C2</a:t>
            </a:r>
            <a:endParaRPr sz="28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"/>
          <p:cNvSpPr/>
          <p:nvPr/>
        </p:nvSpPr>
        <p:spPr>
          <a:xfrm>
            <a:off x="13440600" y="4440600"/>
            <a:ext cx="4847400" cy="24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none" strike="noStrike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MOST. Nasrin </a:t>
            </a:r>
            <a:r>
              <a:rPr lang="en-US" sz="2800" b="1" u="none" strike="noStrike" dirty="0" err="1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Akter</a:t>
            </a:r>
            <a:r>
              <a:rPr lang="en-US" sz="2800" b="1" u="none" strike="noStrike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(2215151142) (c2)</a:t>
            </a:r>
            <a:endParaRPr sz="28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none" strike="noStrike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Batch- 51</a:t>
            </a:r>
            <a:endParaRPr sz="28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none" strike="noStrike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Section- 7C</a:t>
            </a:r>
            <a:endParaRPr sz="28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21777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"/>
          <p:cNvSpPr/>
          <p:nvPr/>
        </p:nvSpPr>
        <p:spPr>
          <a:xfrm>
            <a:off x="192240" y="4116960"/>
            <a:ext cx="4083600" cy="20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771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98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80" b="1" u="none" strike="noStrike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Md. </a:t>
            </a:r>
            <a:r>
              <a:rPr lang="en-US" sz="2280" b="1" u="none" strike="noStrike" dirty="0" err="1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Rayhan</a:t>
            </a:r>
            <a:r>
              <a:rPr lang="en-US" sz="2280" b="1" u="none" strike="noStrike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Ahmed </a:t>
            </a:r>
            <a:r>
              <a:rPr lang="en-US" sz="2280" b="1" u="none" strike="noStrike" dirty="0" err="1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Shis</a:t>
            </a:r>
            <a:r>
              <a:rPr lang="en-US" sz="2280" b="1" u="none" strike="noStrike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(2125051067)</a:t>
            </a:r>
            <a:endParaRPr sz="228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98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80" b="1" u="none" strike="noStrike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Batch- 50</a:t>
            </a:r>
            <a:endParaRPr sz="228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986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8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98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80" b="1" u="none" strike="noStrike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Section- 7C1</a:t>
            </a:r>
            <a:endParaRPr sz="228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986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8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"/>
          <p:cNvSpPr/>
          <p:nvPr/>
        </p:nvSpPr>
        <p:spPr>
          <a:xfrm>
            <a:off x="6635520" y="7512840"/>
            <a:ext cx="5016900" cy="14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none" strike="noStrike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Submitted To:</a:t>
            </a:r>
            <a:endParaRPr sz="28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u="none" strike="noStrike" dirty="0" err="1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Saima</a:t>
            </a:r>
            <a:r>
              <a:rPr lang="en-US" sz="2800" b="0" u="none" strike="noStrike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Siddique </a:t>
            </a:r>
            <a:r>
              <a:rPr lang="en-US" sz="2800" b="0" u="none" strike="noStrike" dirty="0" err="1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Tashfia</a:t>
            </a:r>
            <a:endParaRPr sz="28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u="none" strike="noStrike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Lecturer, Dept. of CSE ,</a:t>
            </a:r>
            <a:r>
              <a:rPr lang="en-US" sz="2800" b="0" u="none" strike="noStrike" dirty="0" err="1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Uits</a:t>
            </a:r>
            <a:endParaRPr sz="28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"/>
          <p:cNvSpPr/>
          <p:nvPr/>
        </p:nvSpPr>
        <p:spPr>
          <a:xfrm>
            <a:off x="2308680" y="4131000"/>
            <a:ext cx="13535700" cy="21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70" b="0" u="none" strike="noStrike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In today’s fast-paced and data-driven world, knowing the right price for a house can make a big difference —</a:t>
            </a:r>
            <a:endParaRPr sz="207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700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70" b="0" u="none" strike="noStrike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whether you're buying, selling, or investing. This project takes a practical approach to that challenge by using</a:t>
            </a:r>
            <a:endParaRPr sz="207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700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70" b="0" u="none" strike="noStrike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a linear regression model to estimate house prices based on real factors like the number of rooms, total area,</a:t>
            </a:r>
            <a:endParaRPr sz="207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700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70" b="0" u="none" strike="noStrike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and property location. By analyzing historical data and applying statistical techniques, the goal is to uncover</a:t>
            </a:r>
            <a:endParaRPr sz="207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7009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7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700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70" b="0" u="none" strike="noStrike" dirty="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patterns and relationships that help predict how much a house is likely to cost.</a:t>
            </a:r>
            <a:endParaRPr sz="207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7009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7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" name="Google Shape;168;p2"/>
          <p:cNvCxnSpPr/>
          <p:nvPr/>
        </p:nvCxnSpPr>
        <p:spPr>
          <a:xfrm>
            <a:off x="5897880" y="3568680"/>
            <a:ext cx="6492300" cy="300"/>
          </a:xfrm>
          <a:prstGeom prst="straightConnector1">
            <a:avLst/>
          </a:prstGeom>
          <a:noFill/>
          <a:ln w="76200" cap="flat" cmpd="sng">
            <a:solidFill>
              <a:srgbClr val="0F466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9" name="Google Shape;169;p2"/>
          <p:cNvCxnSpPr/>
          <p:nvPr/>
        </p:nvCxnSpPr>
        <p:spPr>
          <a:xfrm>
            <a:off x="5830380" y="7335189"/>
            <a:ext cx="6492300" cy="300"/>
          </a:xfrm>
          <a:prstGeom prst="straightConnector1">
            <a:avLst/>
          </a:prstGeom>
          <a:noFill/>
          <a:ln w="76200" cap="flat" cmpd="sng">
            <a:solidFill>
              <a:srgbClr val="0F466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0" name="Google Shape;170;p2"/>
          <p:cNvSpPr/>
          <p:nvPr/>
        </p:nvSpPr>
        <p:spPr>
          <a:xfrm>
            <a:off x="8304120" y="2470680"/>
            <a:ext cx="1679997" cy="249275"/>
          </a:xfrm>
          <a:custGeom>
            <a:avLst/>
            <a:gdLst/>
            <a:ahLst/>
            <a:cxnLst/>
            <a:rect l="l" t="t" r="r" b="b"/>
            <a:pathLst>
              <a:path w="1679997" h="249900" extrusionOk="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"/>
          <p:cNvSpPr/>
          <p:nvPr/>
        </p:nvSpPr>
        <p:spPr>
          <a:xfrm>
            <a:off x="1028880" y="599760"/>
            <a:ext cx="8047800" cy="10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0" b="1" i="1" u="none" strike="noStrike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Introduction</a:t>
            </a:r>
            <a:endParaRPr sz="6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"/>
          <p:cNvSpPr/>
          <p:nvPr/>
        </p:nvSpPr>
        <p:spPr>
          <a:xfrm>
            <a:off x="8304020" y="9151044"/>
            <a:ext cx="1679997" cy="249275"/>
          </a:xfrm>
          <a:custGeom>
            <a:avLst/>
            <a:gdLst/>
            <a:ahLst/>
            <a:cxnLst/>
            <a:rect l="l" t="t" r="r" b="b"/>
            <a:pathLst>
              <a:path w="1679997" h="249900" extrusionOk="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2"/>
          <p:cNvGrpSpPr/>
          <p:nvPr/>
        </p:nvGrpSpPr>
        <p:grpSpPr>
          <a:xfrm>
            <a:off x="14094000" y="-164880"/>
            <a:ext cx="4193640" cy="10451520"/>
            <a:chOff x="14094000" y="-164880"/>
            <a:chExt cx="4193640" cy="10451520"/>
          </a:xfrm>
        </p:grpSpPr>
        <p:sp>
          <p:nvSpPr>
            <p:cNvPr id="93" name="Freeform 3"/>
            <p:cNvSpPr/>
            <p:nvPr/>
          </p:nvSpPr>
          <p:spPr>
            <a:xfrm>
              <a:off x="14094000" y="15840"/>
              <a:ext cx="4193640" cy="10270800"/>
            </a:xfrm>
            <a:custGeom>
              <a:avLst/>
              <a:gdLst>
                <a:gd name="textAreaLeft" fmla="*/ 0 w 4193640"/>
                <a:gd name="textAreaRight" fmla="*/ 4194000 w 4193640"/>
                <a:gd name="textAreaTop" fmla="*/ 0 h 10270800"/>
                <a:gd name="textAreaBottom" fmla="*/ 10271160 h 10270800"/>
              </a:gdLst>
              <a:ahLst/>
              <a:cxnLst/>
              <a:rect l="textAreaLeft" t="textAreaTop" r="textAreaRight" b="textAreaBottom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7994A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TextBox 4"/>
            <p:cNvSpPr/>
            <p:nvPr/>
          </p:nvSpPr>
          <p:spPr>
            <a:xfrm>
              <a:off x="14094000" y="-164880"/>
              <a:ext cx="4193640" cy="10451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694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95" name="Freeform 5"/>
          <p:cNvSpPr/>
          <p:nvPr/>
        </p:nvSpPr>
        <p:spPr>
          <a:xfrm>
            <a:off x="1028880" y="8974800"/>
            <a:ext cx="1904760" cy="282960"/>
          </a:xfrm>
          <a:custGeom>
            <a:avLst/>
            <a:gdLst>
              <a:gd name="textAreaLeft" fmla="*/ 0 w 1904760"/>
              <a:gd name="textAreaRight" fmla="*/ 1905120 w 1904760"/>
              <a:gd name="textAreaTop" fmla="*/ 0 h 282960"/>
              <a:gd name="textAreaBottom" fmla="*/ 283320 h 282960"/>
            </a:gdLst>
            <a:ahLst/>
            <a:cxnLst/>
            <a:rect l="textAreaLeft" t="textAreaTop" r="textAreaRight" b="textAreaBottom"/>
            <a:pathLst>
              <a:path w="1905000" h="283369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6"/>
          <p:cNvSpPr/>
          <p:nvPr/>
        </p:nvSpPr>
        <p:spPr>
          <a:xfrm>
            <a:off x="1028880" y="599760"/>
            <a:ext cx="9389880" cy="108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8960"/>
              </a:lnSpc>
              <a:tabLst>
                <a:tab pos="0" algn="l"/>
              </a:tabLst>
            </a:pPr>
            <a:r>
              <a:rPr lang="en-US" sz="6400" b="1" i="1" u="none" strike="noStrike">
                <a:solidFill>
                  <a:srgbClr val="000000"/>
                </a:solidFill>
                <a:effectLst/>
                <a:uFillTx/>
                <a:latin typeface="Cormorant Garamond Bold Italics"/>
                <a:ea typeface="Cormorant Garamond Bold Italics"/>
              </a:rPr>
              <a:t>Objective</a:t>
            </a:r>
            <a:endParaRPr lang="en-US" sz="6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7"/>
          <p:cNvSpPr/>
          <p:nvPr/>
        </p:nvSpPr>
        <p:spPr>
          <a:xfrm>
            <a:off x="1028880" y="2848320"/>
            <a:ext cx="12631680" cy="29456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Quicksand"/>
                <a:ea typeface="Quicksand"/>
              </a:rPr>
              <a:t>Build a predictive model using linear regression to estimate house prices. 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8040" lvl="1" indent="-259200" defTabSz="914400">
              <a:lnSpc>
                <a:spcPts val="4079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Quicksand"/>
                <a:ea typeface="Quicksand"/>
              </a:rPr>
              <a:t>Clean and preprocess the dataset by handling missing values and converting non-numeric data into usable formats.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8040" lvl="1" indent="-259200" defTabSz="914400">
              <a:lnSpc>
                <a:spcPts val="4079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Quicksand"/>
                <a:ea typeface="Quicksand"/>
              </a:rPr>
              <a:t>Evaluate how well the model performs using both training and testing datasets. 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8040" lvl="1" indent="-259200" defTabSz="914400">
              <a:lnSpc>
                <a:spcPts val="4079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Quicksand"/>
                <a:ea typeface="Quicksand"/>
              </a:rPr>
              <a:t>Implement everything in MATLAB, and generate results that are ready for submission or deployment.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Freeform 2"/>
          <p:cNvSpPr/>
          <p:nvPr/>
        </p:nvSpPr>
        <p:spPr>
          <a:xfrm>
            <a:off x="13474080" y="3652560"/>
            <a:ext cx="4210560" cy="3273480"/>
          </a:xfrm>
          <a:custGeom>
            <a:avLst/>
            <a:gdLst>
              <a:gd name="textAreaLeft" fmla="*/ 0 w 4210560"/>
              <a:gd name="textAreaRight" fmla="*/ 4210920 w 4210560"/>
              <a:gd name="textAreaTop" fmla="*/ 0 h 3273480"/>
              <a:gd name="textAreaBottom" fmla="*/ 3273840 h 3273480"/>
            </a:gdLst>
            <a:ahLst/>
            <a:cxnLst/>
            <a:rect l="textAreaLeft" t="textAreaTop" r="textAreaRight" b="textAreaBottom"/>
            <a:pathLst>
              <a:path w="4210757" h="3273864">
                <a:moveTo>
                  <a:pt x="0" y="0"/>
                </a:moveTo>
                <a:lnTo>
                  <a:pt x="4210757" y="0"/>
                </a:lnTo>
                <a:lnTo>
                  <a:pt x="4210757" y="3273864"/>
                </a:lnTo>
                <a:lnTo>
                  <a:pt x="0" y="32738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AutoShape 3"/>
          <p:cNvSpPr/>
          <p:nvPr/>
        </p:nvSpPr>
        <p:spPr>
          <a:xfrm>
            <a:off x="1660320" y="8483760"/>
            <a:ext cx="4716360" cy="360"/>
          </a:xfrm>
          <a:prstGeom prst="line">
            <a:avLst/>
          </a:prstGeom>
          <a:ln w="57150">
            <a:solidFill>
              <a:srgbClr val="7994A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4"/>
          <p:cNvSpPr/>
          <p:nvPr/>
        </p:nvSpPr>
        <p:spPr>
          <a:xfrm>
            <a:off x="1024560" y="599760"/>
            <a:ext cx="14071680" cy="108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8960"/>
              </a:lnSpc>
              <a:tabLst>
                <a:tab pos="0" algn="l"/>
              </a:tabLst>
            </a:pPr>
            <a:r>
              <a:rPr lang="en-US" sz="6400" b="1" i="1" u="none" strike="noStrike">
                <a:solidFill>
                  <a:srgbClr val="000000"/>
                </a:solidFill>
                <a:effectLst/>
                <a:uFillTx/>
                <a:latin typeface="Cormorant Garamond Bold Italics"/>
                <a:ea typeface="Cormorant Garamond Bold Italics"/>
              </a:rPr>
              <a:t>Tools</a:t>
            </a:r>
            <a:endParaRPr lang="en-US" sz="6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Freeform 5"/>
          <p:cNvSpPr/>
          <p:nvPr/>
        </p:nvSpPr>
        <p:spPr>
          <a:xfrm>
            <a:off x="15579360" y="713880"/>
            <a:ext cx="1679760" cy="249480"/>
          </a:xfrm>
          <a:custGeom>
            <a:avLst/>
            <a:gdLst>
              <a:gd name="textAreaLeft" fmla="*/ 0 w 1679760"/>
              <a:gd name="textAreaRight" fmla="*/ 1680120 w 1679760"/>
              <a:gd name="textAreaTop" fmla="*/ 0 h 249480"/>
              <a:gd name="textAreaBottom" fmla="*/ 249840 h 249480"/>
            </a:gdLst>
            <a:ahLst/>
            <a:cxnLst/>
            <a:rect l="textAreaLeft" t="textAreaTop" r="textAreaRight" b="textAreaBottom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Freeform 6"/>
          <p:cNvSpPr/>
          <p:nvPr/>
        </p:nvSpPr>
        <p:spPr>
          <a:xfrm>
            <a:off x="1024560" y="9529560"/>
            <a:ext cx="1679760" cy="249480"/>
          </a:xfrm>
          <a:custGeom>
            <a:avLst/>
            <a:gdLst>
              <a:gd name="textAreaLeft" fmla="*/ 0 w 1679760"/>
              <a:gd name="textAreaRight" fmla="*/ 1680120 w 1679760"/>
              <a:gd name="textAreaTop" fmla="*/ 0 h 249480"/>
              <a:gd name="textAreaBottom" fmla="*/ 249840 h 249480"/>
            </a:gdLst>
            <a:ahLst/>
            <a:cxnLst/>
            <a:rect l="textAreaLeft" t="textAreaTop" r="textAreaRight" b="textAreaBottom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7"/>
          <p:cNvSpPr/>
          <p:nvPr/>
        </p:nvSpPr>
        <p:spPr>
          <a:xfrm>
            <a:off x="841680" y="3222360"/>
            <a:ext cx="12631680" cy="25763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4079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8040" lvl="1" indent="-259200" defTabSz="914400">
              <a:lnSpc>
                <a:spcPts val="4079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Quicksand"/>
                <a:ea typeface="Quicksand"/>
              </a:rPr>
              <a:t> Programming Language: MATLAB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8040" lvl="1" indent="-259200" defTabSz="914400">
              <a:lnSpc>
                <a:spcPts val="4079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Quicksand"/>
                <a:ea typeface="Quicksand"/>
              </a:rPr>
              <a:t> Libraries/Functions: Basic MATLAB built-in functions (</a:t>
            </a:r>
            <a:r>
              <a:rPr lang="en-US" sz="2400" b="0" u="none" strike="noStrike" dirty="0" err="1">
                <a:solidFill>
                  <a:srgbClr val="000000"/>
                </a:solidFill>
                <a:effectLst/>
                <a:uFillTx/>
                <a:latin typeface="Quicksand"/>
                <a:ea typeface="Quicksand"/>
              </a:rPr>
              <a:t>readtable</a:t>
            </a: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Quicksand"/>
                <a:ea typeface="Quicksand"/>
              </a:rPr>
              <a:t>, </a:t>
            </a:r>
            <a:r>
              <a:rPr lang="en-US" sz="2400" b="0" u="none" strike="noStrike" dirty="0" err="1">
                <a:solidFill>
                  <a:srgbClr val="000000"/>
                </a:solidFill>
                <a:effectLst/>
                <a:uFillTx/>
                <a:latin typeface="Quicksand"/>
                <a:ea typeface="Quicksand"/>
              </a:rPr>
              <a:t>fitlm</a:t>
            </a: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Quicksand"/>
                <a:ea typeface="Quicksand"/>
              </a:rPr>
              <a:t>, etc.)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8040" lvl="1" indent="-259200" defTabSz="914400">
              <a:lnSpc>
                <a:spcPts val="4079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Quicksand"/>
                <a:ea typeface="Quicksand"/>
              </a:rPr>
              <a:t> Datasets: train.csv, test.csv (provided in the project)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8040" lvl="1" indent="-259200" defTabSz="914400">
              <a:lnSpc>
                <a:spcPts val="4079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Quicksand"/>
                <a:ea typeface="Quicksand"/>
              </a:rPr>
              <a:t> Platform: MATLAB Simulation Environment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roup 2"/>
          <p:cNvGrpSpPr/>
          <p:nvPr/>
        </p:nvGrpSpPr>
        <p:grpSpPr>
          <a:xfrm>
            <a:off x="1664640" y="1809360"/>
            <a:ext cx="5539680" cy="7448400"/>
            <a:chOff x="1664640" y="1809360"/>
            <a:chExt cx="5539680" cy="7448400"/>
          </a:xfrm>
        </p:grpSpPr>
        <p:sp>
          <p:nvSpPr>
            <p:cNvPr id="105" name="Freeform 3"/>
            <p:cNvSpPr/>
            <p:nvPr/>
          </p:nvSpPr>
          <p:spPr>
            <a:xfrm>
              <a:off x="1664640" y="1809360"/>
              <a:ext cx="5539680" cy="7448400"/>
            </a:xfrm>
            <a:custGeom>
              <a:avLst/>
              <a:gdLst>
                <a:gd name="textAreaLeft" fmla="*/ 0 w 5539680"/>
                <a:gd name="textAreaRight" fmla="*/ 5540040 w 5539680"/>
                <a:gd name="textAreaTop" fmla="*/ 0 h 7448400"/>
                <a:gd name="textAreaBottom" fmla="*/ 7448760 h 7448400"/>
              </a:gdLst>
              <a:ahLst/>
              <a:cxnLst/>
              <a:rect l="textAreaLeft" t="textAreaTop" r="textAreaRight" b="textAreaBottom"/>
              <a:pathLst>
                <a:path w="858282" h="1154021">
                  <a:moveTo>
                    <a:pt x="32142" y="0"/>
                  </a:moveTo>
                  <a:lnTo>
                    <a:pt x="826140" y="0"/>
                  </a:lnTo>
                  <a:cubicBezTo>
                    <a:pt x="843892" y="0"/>
                    <a:pt x="858282" y="14390"/>
                    <a:pt x="858282" y="32142"/>
                  </a:cubicBezTo>
                  <a:lnTo>
                    <a:pt x="858282" y="1121879"/>
                  </a:lnTo>
                  <a:cubicBezTo>
                    <a:pt x="858282" y="1130404"/>
                    <a:pt x="854896" y="1138579"/>
                    <a:pt x="848868" y="1144607"/>
                  </a:cubicBezTo>
                  <a:cubicBezTo>
                    <a:pt x="842840" y="1150635"/>
                    <a:pt x="834665" y="1154021"/>
                    <a:pt x="826140" y="1154021"/>
                  </a:cubicBezTo>
                  <a:lnTo>
                    <a:pt x="32142" y="1154021"/>
                  </a:lnTo>
                  <a:cubicBezTo>
                    <a:pt x="23617" y="1154021"/>
                    <a:pt x="15442" y="1150635"/>
                    <a:pt x="9414" y="1144607"/>
                  </a:cubicBezTo>
                  <a:cubicBezTo>
                    <a:pt x="3386" y="1138579"/>
                    <a:pt x="0" y="1130404"/>
                    <a:pt x="0" y="1121879"/>
                  </a:cubicBezTo>
                  <a:lnTo>
                    <a:pt x="0" y="32142"/>
                  </a:lnTo>
                  <a:cubicBezTo>
                    <a:pt x="0" y="14390"/>
                    <a:pt x="14390" y="0"/>
                    <a:pt x="32142" y="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6" name="Group 4"/>
          <p:cNvGrpSpPr/>
          <p:nvPr/>
        </p:nvGrpSpPr>
        <p:grpSpPr>
          <a:xfrm>
            <a:off x="8449920" y="-470160"/>
            <a:ext cx="9837720" cy="10756800"/>
            <a:chOff x="8449920" y="-470160"/>
            <a:chExt cx="9837720" cy="10756800"/>
          </a:xfrm>
        </p:grpSpPr>
        <p:sp>
          <p:nvSpPr>
            <p:cNvPr id="107" name="Freeform 5"/>
            <p:cNvSpPr/>
            <p:nvPr/>
          </p:nvSpPr>
          <p:spPr>
            <a:xfrm>
              <a:off x="8449920" y="0"/>
              <a:ext cx="9837720" cy="10286640"/>
            </a:xfrm>
            <a:custGeom>
              <a:avLst/>
              <a:gdLst>
                <a:gd name="textAreaLeft" fmla="*/ 0 w 9837720"/>
                <a:gd name="textAreaRight" fmla="*/ 9838080 w 983772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591141" h="2709333">
                  <a:moveTo>
                    <a:pt x="0" y="0"/>
                  </a:moveTo>
                  <a:lnTo>
                    <a:pt x="2591141" y="0"/>
                  </a:lnTo>
                  <a:lnTo>
                    <a:pt x="259114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BE5EA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TextBox 6"/>
            <p:cNvSpPr/>
            <p:nvPr/>
          </p:nvSpPr>
          <p:spPr>
            <a:xfrm>
              <a:off x="8449920" y="-470160"/>
              <a:ext cx="9837720" cy="1075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4079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09" name="TextBox 7"/>
          <p:cNvSpPr/>
          <p:nvPr/>
        </p:nvSpPr>
        <p:spPr>
          <a:xfrm>
            <a:off x="1028880" y="599760"/>
            <a:ext cx="9480240" cy="108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8960"/>
              </a:lnSpc>
              <a:tabLst>
                <a:tab pos="0" algn="l"/>
              </a:tabLst>
            </a:pPr>
            <a:r>
              <a:rPr lang="en-US" sz="6400" b="1" i="1" u="none" strike="noStrike">
                <a:solidFill>
                  <a:srgbClr val="000000"/>
                </a:solidFill>
                <a:effectLst/>
                <a:uFillTx/>
                <a:latin typeface="Cormorant Garamond Bold Italics"/>
                <a:ea typeface="Cormorant Garamond Bold Italics"/>
              </a:rPr>
              <a:t>Expected Outcomes</a:t>
            </a:r>
            <a:endParaRPr lang="en-US" sz="6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8"/>
          <p:cNvSpPr/>
          <p:nvPr/>
        </p:nvSpPr>
        <p:spPr>
          <a:xfrm>
            <a:off x="8652600" y="2027520"/>
            <a:ext cx="8606160" cy="99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518040" lvl="1" indent="-259200" defTabSz="914400">
              <a:lnSpc>
                <a:spcPts val="4079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Quicksand"/>
                <a:ea typeface="Quicksand"/>
              </a:rPr>
              <a:t>A functional MATLAB-based model capable of predicting housing prices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9"/>
          <p:cNvSpPr/>
          <p:nvPr/>
        </p:nvSpPr>
        <p:spPr>
          <a:xfrm>
            <a:off x="8652600" y="3928680"/>
            <a:ext cx="8606160" cy="99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518040" lvl="1" indent="-259200" defTabSz="914400">
              <a:lnSpc>
                <a:spcPts val="4079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Quicksand"/>
                <a:ea typeface="Quicksand"/>
              </a:rPr>
              <a:t>Prediction output file (submission.csv) aligned with competition or evaluation standards.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10"/>
          <p:cNvSpPr/>
          <p:nvPr/>
        </p:nvSpPr>
        <p:spPr>
          <a:xfrm>
            <a:off x="8652600" y="3099960"/>
            <a:ext cx="8606160" cy="48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518040" lvl="1" indent="-259200" defTabSz="914400">
              <a:lnSpc>
                <a:spcPts val="4079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Quicksand"/>
                <a:ea typeface="Quicksand"/>
              </a:rPr>
              <a:t>Cleaned and structured dataset for model input.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AutoShape 11"/>
          <p:cNvSpPr/>
          <p:nvPr/>
        </p:nvSpPr>
        <p:spPr>
          <a:xfrm>
            <a:off x="1028520" y="9741240"/>
            <a:ext cx="6492240" cy="360"/>
          </a:xfrm>
          <a:prstGeom prst="line">
            <a:avLst/>
          </a:prstGeom>
          <a:ln w="76200">
            <a:solidFill>
              <a:srgbClr val="0F466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AutoShape 12"/>
          <p:cNvSpPr/>
          <p:nvPr/>
        </p:nvSpPr>
        <p:spPr>
          <a:xfrm>
            <a:off x="10766880" y="1028520"/>
            <a:ext cx="6492240" cy="360"/>
          </a:xfrm>
          <a:prstGeom prst="line">
            <a:avLst/>
          </a:prstGeom>
          <a:ln w="76200">
            <a:solidFill>
              <a:srgbClr val="0F466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13"/>
          <p:cNvSpPr/>
          <p:nvPr/>
        </p:nvSpPr>
        <p:spPr>
          <a:xfrm>
            <a:off x="8652600" y="4971960"/>
            <a:ext cx="8606160" cy="99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518040" lvl="1" indent="-259200" defTabSz="914400">
              <a:lnSpc>
                <a:spcPts val="4079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Quicksand"/>
                <a:ea typeface="Quicksand"/>
              </a:rPr>
              <a:t>Source code and methodology that can be adapted for similar regression problems.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2"/>
          <p:cNvGrpSpPr/>
          <p:nvPr/>
        </p:nvGrpSpPr>
        <p:grpSpPr>
          <a:xfrm>
            <a:off x="13660560" y="-470160"/>
            <a:ext cx="4627080" cy="10756800"/>
            <a:chOff x="13660560" y="-470160"/>
            <a:chExt cx="4627080" cy="10756800"/>
          </a:xfrm>
        </p:grpSpPr>
        <p:sp>
          <p:nvSpPr>
            <p:cNvPr id="117" name="Freeform 3"/>
            <p:cNvSpPr/>
            <p:nvPr/>
          </p:nvSpPr>
          <p:spPr>
            <a:xfrm>
              <a:off x="13660560" y="0"/>
              <a:ext cx="4627080" cy="10286640"/>
            </a:xfrm>
            <a:custGeom>
              <a:avLst/>
              <a:gdLst>
                <a:gd name="textAreaLeft" fmla="*/ 0 w 4627080"/>
                <a:gd name="textAreaRight" fmla="*/ 4627440 w 462708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1218726" h="2709333">
                  <a:moveTo>
                    <a:pt x="0" y="0"/>
                  </a:moveTo>
                  <a:lnTo>
                    <a:pt x="1218726" y="0"/>
                  </a:lnTo>
                  <a:lnTo>
                    <a:pt x="12187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994A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TextBox 4"/>
            <p:cNvSpPr/>
            <p:nvPr/>
          </p:nvSpPr>
          <p:spPr>
            <a:xfrm>
              <a:off x="13660560" y="-470160"/>
              <a:ext cx="4627080" cy="1075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4079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19" name="Group 5"/>
          <p:cNvGrpSpPr/>
          <p:nvPr/>
        </p:nvGrpSpPr>
        <p:grpSpPr>
          <a:xfrm>
            <a:off x="11914920" y="1684800"/>
            <a:ext cx="5343840" cy="7572960"/>
            <a:chOff x="11914920" y="1684800"/>
            <a:chExt cx="5343840" cy="7572960"/>
          </a:xfrm>
        </p:grpSpPr>
        <p:sp>
          <p:nvSpPr>
            <p:cNvPr id="120" name="Freeform 6"/>
            <p:cNvSpPr/>
            <p:nvPr/>
          </p:nvSpPr>
          <p:spPr>
            <a:xfrm>
              <a:off x="11914920" y="1684800"/>
              <a:ext cx="5343840" cy="7572960"/>
            </a:xfrm>
            <a:custGeom>
              <a:avLst/>
              <a:gdLst>
                <a:gd name="textAreaLeft" fmla="*/ 0 w 5343840"/>
                <a:gd name="textAreaRight" fmla="*/ 5344200 w 5343840"/>
                <a:gd name="textAreaTop" fmla="*/ 0 h 7572960"/>
                <a:gd name="textAreaBottom" fmla="*/ 7573320 h 7572960"/>
              </a:gdLst>
              <a:ahLst/>
              <a:cxnLst/>
              <a:rect l="textAreaLeft" t="textAreaTop" r="textAreaRight" b="textAreaBottom"/>
              <a:pathLst>
                <a:path w="827961" h="1173314">
                  <a:moveTo>
                    <a:pt x="33319" y="0"/>
                  </a:moveTo>
                  <a:lnTo>
                    <a:pt x="794642" y="0"/>
                  </a:lnTo>
                  <a:cubicBezTo>
                    <a:pt x="813043" y="0"/>
                    <a:pt x="827961" y="14917"/>
                    <a:pt x="827961" y="33319"/>
                  </a:cubicBezTo>
                  <a:lnTo>
                    <a:pt x="827961" y="1139995"/>
                  </a:lnTo>
                  <a:cubicBezTo>
                    <a:pt x="827961" y="1158397"/>
                    <a:pt x="813043" y="1173314"/>
                    <a:pt x="794642" y="1173314"/>
                  </a:cubicBezTo>
                  <a:lnTo>
                    <a:pt x="33319" y="1173314"/>
                  </a:lnTo>
                  <a:cubicBezTo>
                    <a:pt x="14917" y="1173314"/>
                    <a:pt x="0" y="1158397"/>
                    <a:pt x="0" y="1139995"/>
                  </a:cubicBezTo>
                  <a:lnTo>
                    <a:pt x="0" y="33319"/>
                  </a:lnTo>
                  <a:cubicBezTo>
                    <a:pt x="0" y="14917"/>
                    <a:pt x="14917" y="0"/>
                    <a:pt x="33319" y="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1" name="TextBox 7"/>
          <p:cNvSpPr/>
          <p:nvPr/>
        </p:nvSpPr>
        <p:spPr>
          <a:xfrm>
            <a:off x="1028880" y="599760"/>
            <a:ext cx="5702400" cy="108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8960"/>
              </a:lnSpc>
              <a:tabLst>
                <a:tab pos="0" algn="l"/>
              </a:tabLst>
            </a:pPr>
            <a:r>
              <a:rPr lang="en-US" sz="6400" b="1" i="1" u="none" strike="noStrike">
                <a:solidFill>
                  <a:srgbClr val="000000"/>
                </a:solidFill>
                <a:effectLst/>
                <a:uFillTx/>
                <a:latin typeface="Cormorant Garamond Bold Italics"/>
                <a:ea typeface="Cormorant Garamond Bold Italics"/>
              </a:rPr>
              <a:t>Methodology</a:t>
            </a:r>
            <a:endParaRPr lang="en-US" sz="6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8"/>
          <p:cNvSpPr/>
          <p:nvPr/>
        </p:nvSpPr>
        <p:spPr>
          <a:xfrm>
            <a:off x="1028880" y="2434320"/>
            <a:ext cx="10527480" cy="48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518040" lvl="1" indent="-259200" defTabSz="914400">
              <a:lnSpc>
                <a:spcPts val="4079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Quicksand"/>
                <a:ea typeface="Quicksand"/>
              </a:rPr>
              <a:t>Import training and test data using MATLAB’s readtable() function.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9"/>
          <p:cNvSpPr/>
          <p:nvPr/>
        </p:nvSpPr>
        <p:spPr>
          <a:xfrm>
            <a:off x="1028880" y="3676320"/>
            <a:ext cx="10527480" cy="99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518040" lvl="1" indent="-259200" defTabSz="914400">
              <a:lnSpc>
                <a:spcPts val="4079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Quicksand"/>
                <a:ea typeface="Quicksand"/>
              </a:rPr>
              <a:t>Clean and transform data using a custom function replace_func.m to handle missing and categorical values.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10"/>
          <p:cNvSpPr/>
          <p:nvPr/>
        </p:nvSpPr>
        <p:spPr>
          <a:xfrm>
            <a:off x="909610" y="5393520"/>
            <a:ext cx="10527480" cy="20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518040" lvl="1" indent="-259200" defTabSz="914400">
              <a:lnSpc>
                <a:spcPts val="4079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Quicksand"/>
                <a:ea typeface="Quicksand"/>
              </a:rPr>
              <a:t>Pilot the proposed strategies on a smaller scale to assess their effectiveness.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8040" lvl="1" indent="-259200" defTabSz="914400">
              <a:lnSpc>
                <a:spcPts val="4079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Quicksand"/>
                <a:ea typeface="Quicksand"/>
              </a:rPr>
              <a:t>Gather feedback, iterate, and refine the strategies based on initial results.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11"/>
          <p:cNvSpPr/>
          <p:nvPr/>
        </p:nvSpPr>
        <p:spPr>
          <a:xfrm>
            <a:off x="1028880" y="1914840"/>
            <a:ext cx="10527480" cy="49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392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Quicksand Bold"/>
                <a:ea typeface="Quicksand Bold"/>
              </a:rPr>
              <a:t>Data Acquisition: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12"/>
          <p:cNvSpPr/>
          <p:nvPr/>
        </p:nvSpPr>
        <p:spPr>
          <a:xfrm>
            <a:off x="1028880" y="3082680"/>
            <a:ext cx="10527480" cy="56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4759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Quicksand Bold"/>
                <a:ea typeface="Quicksand Bold"/>
              </a:rPr>
              <a:t>Data Preprocessing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13"/>
          <p:cNvSpPr/>
          <p:nvPr/>
        </p:nvSpPr>
        <p:spPr>
          <a:xfrm>
            <a:off x="1028880" y="4828680"/>
            <a:ext cx="10527480" cy="56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4759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Quicksand Bold"/>
                <a:ea typeface="Quicksand Bold"/>
              </a:rPr>
              <a:t>Model Development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14"/>
          <p:cNvSpPr/>
          <p:nvPr/>
        </p:nvSpPr>
        <p:spPr>
          <a:xfrm>
            <a:off x="1028880" y="7603560"/>
            <a:ext cx="10527480" cy="56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4759"/>
              </a:lnSpc>
              <a:tabLst>
                <a:tab pos="0" algn="l"/>
              </a:tabLst>
            </a:pPr>
            <a:r>
              <a:rPr lang="en-US" sz="2800" b="1" u="none" strike="noStrike" dirty="0">
                <a:solidFill>
                  <a:srgbClr val="000000"/>
                </a:solidFill>
                <a:effectLst/>
                <a:uFillTx/>
                <a:latin typeface="Quicksand Bold"/>
                <a:ea typeface="Quicksand Bold"/>
              </a:rPr>
              <a:t>Prediction and Output Generation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15"/>
          <p:cNvSpPr/>
          <p:nvPr/>
        </p:nvSpPr>
        <p:spPr>
          <a:xfrm>
            <a:off x="1028880" y="8197560"/>
            <a:ext cx="10527480" cy="99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518040" lvl="1" indent="-259200" defTabSz="914400">
              <a:lnSpc>
                <a:spcPts val="4079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Quicksand"/>
                <a:ea typeface="Quicksand"/>
              </a:rPr>
              <a:t>Generate price predictions using the trained model and export results to submission.csv.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"/>
          <p:cNvSpPr/>
          <p:nvPr/>
        </p:nvSpPr>
        <p:spPr>
          <a:xfrm>
            <a:off x="1028880" y="599760"/>
            <a:ext cx="11537400" cy="10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0" b="1" i="1" u="none" strike="noStrike">
                <a:solidFill>
                  <a:srgbClr val="000000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Data Analysis</a:t>
            </a:r>
            <a:endParaRPr sz="6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8240" y="2057400"/>
            <a:ext cx="8652961" cy="754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"/>
          <p:cNvSpPr txBox="1"/>
          <p:nvPr/>
        </p:nvSpPr>
        <p:spPr>
          <a:xfrm>
            <a:off x="10086108" y="2317800"/>
            <a:ext cx="7772400" cy="526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this study, we used MATLAB to develop a linear regression model that predicts house prices based on various features such as area, number of rooms, location, and more.</a:t>
            </a:r>
            <a:endParaRPr sz="21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graph shows a comparison between the actual and predicted sale prices for a portion of the dataset.</a:t>
            </a:r>
            <a:endParaRPr sz="21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Red Line – Actual Sale Prices</a:t>
            </a:r>
            <a:endParaRPr sz="21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Blue Line – Predicted Sale Prices</a:t>
            </a:r>
            <a:endParaRPr sz="21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predicted values closely follow the actual trend, indicating a well-fitted regression model.</a:t>
            </a:r>
            <a:endParaRPr sz="21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Some deviations are present, which can be attributed to outliers or unaccounted features.</a:t>
            </a:r>
            <a:endParaRPr sz="21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model performs reasonably well, but further tuning or feature engineering could improve prediction accuracy.</a:t>
            </a:r>
            <a:endParaRPr sz="21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Box 2"/>
          <p:cNvSpPr/>
          <p:nvPr/>
        </p:nvSpPr>
        <p:spPr>
          <a:xfrm>
            <a:off x="1028880" y="599760"/>
            <a:ext cx="11534400" cy="108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8960"/>
              </a:lnSpc>
              <a:tabLst>
                <a:tab pos="0" algn="l"/>
              </a:tabLst>
            </a:pPr>
            <a:r>
              <a:rPr lang="en-US" sz="6400" b="1" i="1" u="none" strike="noStrike">
                <a:solidFill>
                  <a:srgbClr val="000000"/>
                </a:solidFill>
                <a:effectLst/>
                <a:uFillTx/>
                <a:latin typeface="Cormorant Garamond Bold Italics"/>
                <a:ea typeface="Cormorant Garamond Bold Italics"/>
              </a:rPr>
              <a:t>Conclusion</a:t>
            </a:r>
            <a:endParaRPr lang="en-US" sz="6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AutoShape 3"/>
          <p:cNvSpPr/>
          <p:nvPr/>
        </p:nvSpPr>
        <p:spPr>
          <a:xfrm>
            <a:off x="5897880" y="3144600"/>
            <a:ext cx="6492240" cy="360"/>
          </a:xfrm>
          <a:prstGeom prst="line">
            <a:avLst/>
          </a:prstGeom>
          <a:ln w="76200">
            <a:solidFill>
              <a:srgbClr val="0F466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AutoShape 4"/>
          <p:cNvSpPr/>
          <p:nvPr/>
        </p:nvSpPr>
        <p:spPr>
          <a:xfrm>
            <a:off x="5897880" y="7836120"/>
            <a:ext cx="6492240" cy="360"/>
          </a:xfrm>
          <a:prstGeom prst="line">
            <a:avLst/>
          </a:prstGeom>
          <a:ln w="76200">
            <a:solidFill>
              <a:srgbClr val="0F466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Freeform 5"/>
          <p:cNvSpPr/>
          <p:nvPr/>
        </p:nvSpPr>
        <p:spPr>
          <a:xfrm>
            <a:off x="8304120" y="2470680"/>
            <a:ext cx="1679760" cy="249480"/>
          </a:xfrm>
          <a:custGeom>
            <a:avLst/>
            <a:gdLst>
              <a:gd name="textAreaLeft" fmla="*/ 0 w 1679760"/>
              <a:gd name="textAreaRight" fmla="*/ 1680120 w 1679760"/>
              <a:gd name="textAreaTop" fmla="*/ 0 h 249480"/>
              <a:gd name="textAreaBottom" fmla="*/ 249840 h 249480"/>
            </a:gdLst>
            <a:ahLst/>
            <a:cxnLst/>
            <a:rect l="textAreaLeft" t="textAreaTop" r="textAreaRight" b="textAreaBottom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Freeform 6"/>
          <p:cNvSpPr/>
          <p:nvPr/>
        </p:nvSpPr>
        <p:spPr>
          <a:xfrm>
            <a:off x="8304120" y="8019360"/>
            <a:ext cx="1679760" cy="249480"/>
          </a:xfrm>
          <a:custGeom>
            <a:avLst/>
            <a:gdLst>
              <a:gd name="textAreaLeft" fmla="*/ 0 w 1679760"/>
              <a:gd name="textAreaRight" fmla="*/ 1680120 w 1679760"/>
              <a:gd name="textAreaTop" fmla="*/ 0 h 249480"/>
              <a:gd name="textAreaBottom" fmla="*/ 249840 h 249480"/>
            </a:gdLst>
            <a:ahLst/>
            <a:cxnLst/>
            <a:rect l="textAreaLeft" t="textAreaTop" r="textAreaRight" b="textAreaBottom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7"/>
          <p:cNvSpPr/>
          <p:nvPr/>
        </p:nvSpPr>
        <p:spPr>
          <a:xfrm>
            <a:off x="1028880" y="3449520"/>
            <a:ext cx="16230240" cy="31021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4079"/>
              </a:lnSpc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Quicksand"/>
                <a:ea typeface="Quicksand"/>
              </a:rPr>
              <a:t>This project demonstrates the potential of linear regression for data-driven real estate price prediction.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079"/>
              </a:lnSpc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Quicksand"/>
                <a:ea typeface="Quicksand"/>
              </a:rPr>
              <a:t>Despite certain limitations (e.g., feature scope and lack of regularization), the model produces interpretable and usable results.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079"/>
              </a:lnSpc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Quicksand"/>
                <a:ea typeface="Quicksand"/>
              </a:rPr>
              <a:t>Future improvements can include: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079"/>
              </a:lnSpc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Quicksand"/>
                <a:ea typeface="Quicksand"/>
              </a:rPr>
              <a:t>Advanced ML models (e.g., Lasso, Random Forest)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079"/>
              </a:lnSpc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Quicksand"/>
                <a:ea typeface="Quicksand"/>
              </a:rPr>
              <a:t>Feature engineering and selection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079"/>
              </a:lnSpc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000000"/>
                </a:solidFill>
                <a:effectLst/>
                <a:uFillTx/>
                <a:latin typeface="Quicksand"/>
                <a:ea typeface="Quicksand"/>
              </a:rPr>
              <a:t>Integration into real-time applications (web/mobile)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2"/>
          <p:cNvSpPr/>
          <p:nvPr/>
        </p:nvSpPr>
        <p:spPr>
          <a:xfrm>
            <a:off x="3442680" y="3369600"/>
            <a:ext cx="11402280" cy="318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26008"/>
              </a:lnSpc>
              <a:tabLst>
                <a:tab pos="0" algn="l"/>
              </a:tabLst>
            </a:pPr>
            <a:r>
              <a:rPr lang="en-US" sz="18580" b="1" i="1" u="none" strike="noStrike">
                <a:solidFill>
                  <a:srgbClr val="000000"/>
                </a:solidFill>
                <a:effectLst/>
                <a:uFillTx/>
                <a:latin typeface="Cormorant Garamond Bold Italics"/>
                <a:ea typeface="Cormorant Garamond Bold Italics"/>
              </a:rPr>
              <a:t>Thank you</a:t>
            </a:r>
            <a:endParaRPr lang="en-US" sz="18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AutoShape 3"/>
          <p:cNvSpPr/>
          <p:nvPr/>
        </p:nvSpPr>
        <p:spPr>
          <a:xfrm>
            <a:off x="5897880" y="2215080"/>
            <a:ext cx="6492240" cy="360"/>
          </a:xfrm>
          <a:prstGeom prst="line">
            <a:avLst/>
          </a:prstGeom>
          <a:ln w="76200">
            <a:solidFill>
              <a:srgbClr val="0F466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Freeform 4"/>
          <p:cNvSpPr/>
          <p:nvPr/>
        </p:nvSpPr>
        <p:spPr>
          <a:xfrm>
            <a:off x="8304120" y="1116720"/>
            <a:ext cx="1679760" cy="249480"/>
          </a:xfrm>
          <a:custGeom>
            <a:avLst/>
            <a:gdLst>
              <a:gd name="textAreaLeft" fmla="*/ 0 w 1679760"/>
              <a:gd name="textAreaRight" fmla="*/ 1680120 w 1679760"/>
              <a:gd name="textAreaTop" fmla="*/ 0 h 249480"/>
              <a:gd name="textAreaBottom" fmla="*/ 249840 h 249480"/>
            </a:gdLst>
            <a:ahLst/>
            <a:cxnLst/>
            <a:rect l="textAreaLeft" t="textAreaTop" r="textAreaRight" b="textAreaBottom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AutoShape 5"/>
          <p:cNvSpPr/>
          <p:nvPr/>
        </p:nvSpPr>
        <p:spPr>
          <a:xfrm>
            <a:off x="5897880" y="8159760"/>
            <a:ext cx="6492240" cy="360"/>
          </a:xfrm>
          <a:prstGeom prst="line">
            <a:avLst/>
          </a:prstGeom>
          <a:ln w="76200">
            <a:solidFill>
              <a:srgbClr val="0F466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Freeform 6"/>
          <p:cNvSpPr/>
          <p:nvPr/>
        </p:nvSpPr>
        <p:spPr>
          <a:xfrm>
            <a:off x="8304120" y="9008280"/>
            <a:ext cx="1679760" cy="249480"/>
          </a:xfrm>
          <a:custGeom>
            <a:avLst/>
            <a:gdLst>
              <a:gd name="textAreaLeft" fmla="*/ 0 w 1679760"/>
              <a:gd name="textAreaRight" fmla="*/ 1680120 w 1679760"/>
              <a:gd name="textAreaTop" fmla="*/ 0 h 249480"/>
              <a:gd name="textAreaBottom" fmla="*/ 249840 h 249480"/>
            </a:gdLst>
            <a:ahLst/>
            <a:cxnLst/>
            <a:rect l="textAreaLeft" t="textAreaTop" r="textAreaRight" b="textAreaBottom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593</Words>
  <Application>Microsoft Office PowerPoint</Application>
  <PresentationFormat>Custom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Arial</vt:lpstr>
      <vt:lpstr>Calibri</vt:lpstr>
      <vt:lpstr>Cormorant Garamond</vt:lpstr>
      <vt:lpstr>Cormorant Garamond Bold Italics</vt:lpstr>
      <vt:lpstr>Quicksand</vt:lpstr>
      <vt:lpstr>Quicksand Bold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Student</cp:lastModifiedBy>
  <cp:revision>1</cp:revision>
  <dcterms:modified xsi:type="dcterms:W3CDTF">2025-05-29T20:45:51Z</dcterms:modified>
</cp:coreProperties>
</file>